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://kaggle.com/datasets/uciml/electric-power-consumption-data-set" TargetMode="Externa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73154" cy="5148072"/>
          </a:xfrm>
          <a:prstGeom prst="rect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8640" y="457200"/>
            <a:ext cx="640081" cy="640081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Text 1"/>
          <p:cNvSpPr txBox="1"/>
          <p:nvPr/>
        </p:nvSpPr>
        <p:spPr>
          <a:xfrm>
            <a:off x="548640" y="1371600"/>
            <a:ext cx="5029201" cy="1280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b="1" sz="4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Enerji Tüketimi</a:t>
            </a:r>
          </a:p>
          <a:p>
            <a:pPr>
              <a:lnSpc>
                <a:spcPct val="110000"/>
              </a:lnSpc>
              <a:defRPr b="1" sz="4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Tahminleme</a:t>
            </a:r>
          </a:p>
        </p:txBody>
      </p:sp>
      <p:sp>
        <p:nvSpPr>
          <p:cNvPr id="23" name="Text 2"/>
          <p:cNvSpPr txBox="1"/>
          <p:nvPr/>
        </p:nvSpPr>
        <p:spPr>
          <a:xfrm>
            <a:off x="548640" y="2831663"/>
            <a:ext cx="5029201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2C39A"/>
                </a:solidFill>
              </a:defRPr>
            </a:lvl1pPr>
          </a:lstStyle>
          <a:p>
            <a:pPr/>
            <a:r>
              <a:t>Saatlik tüketim tahminleriyle yılda %8-12 enerji maliyeti tasarrufu</a:t>
            </a:r>
          </a:p>
        </p:txBody>
      </p:sp>
      <p:sp>
        <p:nvSpPr>
          <p:cNvPr id="24" name="Text 3"/>
          <p:cNvSpPr txBox="1"/>
          <p:nvPr/>
        </p:nvSpPr>
        <p:spPr>
          <a:xfrm>
            <a:off x="548640" y="4645659"/>
            <a:ext cx="5029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Kaggle: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 invalidUrl="" action="" tgtFrame="" tooltip="" history="1" highlightClick="0" endSnd="0"/>
              </a:rPr>
              <a:t>kaggle.com/datasets/uciml/electric-power-consumption-data-set</a:t>
            </a:r>
          </a:p>
        </p:txBody>
      </p:sp>
      <p:sp>
        <p:nvSpPr>
          <p:cNvPr id="25" name="Shape 4"/>
          <p:cNvSpPr/>
          <p:nvPr/>
        </p:nvSpPr>
        <p:spPr>
          <a:xfrm>
            <a:off x="6400800" y="274320"/>
            <a:ext cx="5212080" cy="4572001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" name="Text 5"/>
          <p:cNvSpPr txBox="1"/>
          <p:nvPr/>
        </p:nvSpPr>
        <p:spPr>
          <a:xfrm>
            <a:off x="6858000" y="562610"/>
            <a:ext cx="4114800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%65</a:t>
            </a:r>
          </a:p>
        </p:txBody>
      </p:sp>
      <p:sp>
        <p:nvSpPr>
          <p:cNvPr id="27" name="Text 6"/>
          <p:cNvSpPr txBox="1"/>
          <p:nvPr/>
        </p:nvSpPr>
        <p:spPr>
          <a:xfrm>
            <a:off x="6858000" y="1094040"/>
            <a:ext cx="41148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Tahmin Hatası Azalması</a:t>
            </a:r>
          </a:p>
        </p:txBody>
      </p:sp>
      <p:sp>
        <p:nvSpPr>
          <p:cNvPr id="28" name="Text 7"/>
          <p:cNvSpPr txBox="1"/>
          <p:nvPr/>
        </p:nvSpPr>
        <p:spPr>
          <a:xfrm>
            <a:off x="6858000" y="1373046"/>
            <a:ext cx="41148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Naive baseline'a göre</a:t>
            </a:r>
          </a:p>
        </p:txBody>
      </p:sp>
      <p:sp>
        <p:nvSpPr>
          <p:cNvPr id="29" name="Text 8"/>
          <p:cNvSpPr txBox="1"/>
          <p:nvPr/>
        </p:nvSpPr>
        <p:spPr>
          <a:xfrm>
            <a:off x="6858000" y="1979930"/>
            <a:ext cx="4114800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R²=0.91</a:t>
            </a:r>
          </a:p>
        </p:txBody>
      </p:sp>
      <p:sp>
        <p:nvSpPr>
          <p:cNvPr id="30" name="Text 9"/>
          <p:cNvSpPr txBox="1"/>
          <p:nvPr/>
        </p:nvSpPr>
        <p:spPr>
          <a:xfrm>
            <a:off x="6858000" y="2511360"/>
            <a:ext cx="41148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Açıklanan Varyans</a:t>
            </a:r>
          </a:p>
        </p:txBody>
      </p:sp>
      <p:sp>
        <p:nvSpPr>
          <p:cNvPr id="31" name="Text 10"/>
          <p:cNvSpPr txBox="1"/>
          <p:nvPr/>
        </p:nvSpPr>
        <p:spPr>
          <a:xfrm>
            <a:off x="6858000" y="2790366"/>
            <a:ext cx="41148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Tüketim varyansının %91'i</a:t>
            </a:r>
          </a:p>
        </p:txBody>
      </p:sp>
      <p:sp>
        <p:nvSpPr>
          <p:cNvPr id="32" name="Text 11"/>
          <p:cNvSpPr txBox="1"/>
          <p:nvPr/>
        </p:nvSpPr>
        <p:spPr>
          <a:xfrm>
            <a:off x="6858000" y="3397250"/>
            <a:ext cx="4114800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%8-12</a:t>
            </a:r>
          </a:p>
        </p:txBody>
      </p:sp>
      <p:sp>
        <p:nvSpPr>
          <p:cNvPr id="33" name="Text 12"/>
          <p:cNvSpPr txBox="1"/>
          <p:nvPr/>
        </p:nvSpPr>
        <p:spPr>
          <a:xfrm>
            <a:off x="6858000" y="3928680"/>
            <a:ext cx="41148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Potansiyel Maliyet Tasarrufu</a:t>
            </a:r>
          </a:p>
        </p:txBody>
      </p:sp>
      <p:sp>
        <p:nvSpPr>
          <p:cNvPr id="34" name="Text 13"/>
          <p:cNvSpPr txBox="1"/>
          <p:nvPr/>
        </p:nvSpPr>
        <p:spPr>
          <a:xfrm>
            <a:off x="6858000" y="4207686"/>
            <a:ext cx="41148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Yıllık enerji giderlerinde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274320"/>
            <a:ext cx="502920" cy="50292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Text 0"/>
          <p:cNvSpPr txBox="1"/>
          <p:nvPr/>
        </p:nvSpPr>
        <p:spPr>
          <a:xfrm>
            <a:off x="1051560" y="335279"/>
            <a:ext cx="73152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Neden Enerji Tahminleme?</a:t>
            </a:r>
          </a:p>
        </p:txBody>
      </p:sp>
      <p:sp>
        <p:nvSpPr>
          <p:cNvPr id="38" name="Shape 1"/>
          <p:cNvSpPr/>
          <p:nvPr/>
        </p:nvSpPr>
        <p:spPr>
          <a:xfrm>
            <a:off x="457199" y="1051559"/>
            <a:ext cx="5303522" cy="442663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" name="Text 2"/>
          <p:cNvSpPr txBox="1"/>
          <p:nvPr/>
        </p:nvSpPr>
        <p:spPr>
          <a:xfrm>
            <a:off x="731520" y="1261109"/>
            <a:ext cx="475488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İş Problemi</a:t>
            </a:r>
          </a:p>
        </p:txBody>
      </p:sp>
      <p:sp>
        <p:nvSpPr>
          <p:cNvPr id="40" name="Text 3"/>
          <p:cNvSpPr txBox="1"/>
          <p:nvPr/>
        </p:nvSpPr>
        <p:spPr>
          <a:xfrm>
            <a:off x="731520" y="1737360"/>
            <a:ext cx="4754880" cy="1836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5000"/>
              </a:lnSpc>
              <a:defRPr sz="1300">
                <a:solidFill>
                  <a:srgbClr val="374151"/>
                </a:solidFill>
              </a:defRPr>
            </a:pPr>
            <a:r>
              <a:t>Enerji maliyetleri toplam operasyonel giderlerin %15-25'ini oluşturur. Doğru tahmin olmadan:</a:t>
            </a:r>
          </a:p>
          <a:p>
            <a:pPr>
              <a:lnSpc>
                <a:spcPct val="145000"/>
              </a:lnSpc>
              <a:defRPr sz="1300"/>
            </a:pPr>
          </a:p>
          <a:p>
            <a:pPr>
              <a:lnSpc>
                <a:spcPct val="145000"/>
              </a:lnSpc>
              <a:defRPr sz="1300">
                <a:solidFill>
                  <a:srgbClr val="374151"/>
                </a:solidFill>
              </a:defRPr>
            </a:pPr>
            <a:r>
              <a:t>• Fazla kapasite satın alımı → gereksiz maliyet</a:t>
            </a:r>
          </a:p>
          <a:p>
            <a:pPr>
              <a:lnSpc>
                <a:spcPct val="145000"/>
              </a:lnSpc>
              <a:defRPr sz="1300">
                <a:solidFill>
                  <a:srgbClr val="374151"/>
                </a:solidFill>
              </a:defRPr>
            </a:pPr>
            <a:r>
              <a:t>• Yetersiz kapasite → ceza ödemeleri &amp; kesintiler</a:t>
            </a:r>
          </a:p>
          <a:p>
            <a:pPr>
              <a:lnSpc>
                <a:spcPct val="145000"/>
              </a:lnSpc>
              <a:defRPr sz="1300">
                <a:solidFill>
                  <a:srgbClr val="374151"/>
                </a:solidFill>
              </a:defRPr>
            </a:pPr>
            <a:r>
              <a:t>• Peak saatlerde yüksek tarife → kontrol edilemeyen giderler</a:t>
            </a:r>
          </a:p>
          <a:p>
            <a:pPr>
              <a:lnSpc>
                <a:spcPct val="145000"/>
              </a:lnSpc>
              <a:defRPr sz="1300">
                <a:solidFill>
                  <a:srgbClr val="374151"/>
                </a:solidFill>
              </a:defRPr>
            </a:pPr>
            <a:r>
              <a:t>• Cihaz bakım planı yapılamıyor → beklenmedik arızalar</a:t>
            </a:r>
          </a:p>
        </p:txBody>
      </p:sp>
      <p:sp>
        <p:nvSpPr>
          <p:cNvPr id="41" name="Shape 4"/>
          <p:cNvSpPr/>
          <p:nvPr/>
        </p:nvSpPr>
        <p:spPr>
          <a:xfrm>
            <a:off x="6126479" y="1051559"/>
            <a:ext cx="5303521" cy="4426630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" name="Text 5"/>
          <p:cNvSpPr txBox="1"/>
          <p:nvPr/>
        </p:nvSpPr>
        <p:spPr>
          <a:xfrm>
            <a:off x="6400800" y="1261109"/>
            <a:ext cx="475488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Fırsat</a:t>
            </a:r>
          </a:p>
        </p:txBody>
      </p:sp>
      <p:sp>
        <p:nvSpPr>
          <p:cNvPr id="43" name="Text 6"/>
          <p:cNvSpPr txBox="1"/>
          <p:nvPr/>
        </p:nvSpPr>
        <p:spPr>
          <a:xfrm>
            <a:off x="6400800" y="1737360"/>
            <a:ext cx="4754880" cy="3007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FFFFFF"/>
                </a:solidFill>
              </a:defRPr>
            </a:pPr>
            <a:r>
              <a:t>Saatlik tüketim tahmini ile:</a:t>
            </a:r>
          </a:p>
          <a:p>
            <a:pPr>
              <a:lnSpc>
                <a:spcPct val="130000"/>
              </a:lnSpc>
              <a:defRPr sz="1200"/>
            </a:pPr>
          </a:p>
          <a:p>
            <a:pPr marL="120315" indent="-120315">
              <a:lnSpc>
                <a:spcPct val="130000"/>
              </a:lnSpc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Dinamik enerji alım stratejisi</a:t>
            </a:r>
          </a:p>
          <a:p>
            <a:pPr>
              <a:lnSpc>
                <a:spcPct val="130000"/>
              </a:lnSpc>
              <a:defRPr sz="1200">
                <a:solidFill>
                  <a:srgbClr val="FFFFFF"/>
                </a:solidFill>
              </a:defRPr>
            </a:pPr>
            <a:r>
              <a:t>     Ucuz saatlerde stokla, pahalı saatlerden kaçın</a:t>
            </a:r>
          </a:p>
          <a:p>
            <a:pPr>
              <a:lnSpc>
                <a:spcPct val="130000"/>
              </a:lnSpc>
              <a:defRPr sz="1200"/>
            </a:pPr>
          </a:p>
          <a:p>
            <a:pPr marL="120315" indent="-120315">
              <a:lnSpc>
                <a:spcPct val="130000"/>
              </a:lnSpc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Yük kaydırma (Load Shifting)</a:t>
            </a:r>
          </a:p>
          <a:p>
            <a:pPr>
              <a:lnSpc>
                <a:spcPct val="130000"/>
              </a:lnSpc>
              <a:defRPr sz="1200">
                <a:solidFill>
                  <a:srgbClr val="FFFFFF"/>
                </a:solidFill>
              </a:defRPr>
            </a:pPr>
            <a:r>
              <a:t>     Ağır cihazları off-peak saatlere taşı</a:t>
            </a:r>
          </a:p>
          <a:p>
            <a:pPr>
              <a:lnSpc>
                <a:spcPct val="130000"/>
              </a:lnSpc>
              <a:defRPr sz="1200"/>
            </a:pPr>
          </a:p>
          <a:p>
            <a:pPr marL="120315" indent="-120315">
              <a:lnSpc>
                <a:spcPct val="130000"/>
              </a:lnSpc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Prediktif bakım</a:t>
            </a:r>
          </a:p>
          <a:p>
            <a:pPr>
              <a:lnSpc>
                <a:spcPct val="130000"/>
              </a:lnSpc>
              <a:defRPr sz="1200">
                <a:solidFill>
                  <a:srgbClr val="FFFFFF"/>
                </a:solidFill>
              </a:defRPr>
            </a:pPr>
            <a:r>
              <a:t>     Anormal tüketim = arıza habercisi</a:t>
            </a:r>
          </a:p>
          <a:p>
            <a:pPr>
              <a:lnSpc>
                <a:spcPct val="130000"/>
              </a:lnSpc>
              <a:defRPr sz="1200"/>
            </a:pPr>
          </a:p>
          <a:p>
            <a:pPr marL="120315" indent="-120315">
              <a:lnSpc>
                <a:spcPct val="130000"/>
              </a:lnSpc>
              <a:buSzPct val="100000"/>
              <a:buChar char="•"/>
              <a:defRPr sz="1200">
                <a:solidFill>
                  <a:srgbClr val="FFFFFF"/>
                </a:solidFill>
              </a:defRPr>
            </a:pPr>
            <a:r>
              <a:t>Bütçe doğruluğu</a:t>
            </a:r>
          </a:p>
          <a:p>
            <a:pPr>
              <a:lnSpc>
                <a:spcPct val="130000"/>
              </a:lnSpc>
              <a:defRPr sz="1200">
                <a:solidFill>
                  <a:srgbClr val="FFFFFF"/>
                </a:solidFill>
              </a:defRPr>
            </a:pPr>
            <a:r>
              <a:t>     Aylık enerji bütçesi ±%15 yerine ±%5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274320"/>
            <a:ext cx="502920" cy="502920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Text 0"/>
          <p:cNvSpPr txBox="1"/>
          <p:nvPr/>
        </p:nvSpPr>
        <p:spPr>
          <a:xfrm>
            <a:off x="1051560" y="335279"/>
            <a:ext cx="73152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Veri &amp; Yaklaşım</a:t>
            </a:r>
          </a:p>
        </p:txBody>
      </p:sp>
      <p:sp>
        <p:nvSpPr>
          <p:cNvPr id="47" name="Shape 1"/>
          <p:cNvSpPr/>
          <p:nvPr/>
        </p:nvSpPr>
        <p:spPr>
          <a:xfrm>
            <a:off x="457200" y="1051560"/>
            <a:ext cx="2514600" cy="1097281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" name="Text 2"/>
          <p:cNvSpPr txBox="1"/>
          <p:nvPr/>
        </p:nvSpPr>
        <p:spPr>
          <a:xfrm>
            <a:off x="457200" y="1191259"/>
            <a:ext cx="251460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80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34,589</a:t>
            </a:r>
          </a:p>
        </p:txBody>
      </p:sp>
      <p:sp>
        <p:nvSpPr>
          <p:cNvPr id="49" name="Text 3"/>
          <p:cNvSpPr txBox="1"/>
          <p:nvPr/>
        </p:nvSpPr>
        <p:spPr>
          <a:xfrm>
            <a:off x="457200" y="1727507"/>
            <a:ext cx="25146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Saatlik Gözlem</a:t>
            </a:r>
          </a:p>
        </p:txBody>
      </p:sp>
      <p:sp>
        <p:nvSpPr>
          <p:cNvPr id="50" name="Shape 4"/>
          <p:cNvSpPr/>
          <p:nvPr/>
        </p:nvSpPr>
        <p:spPr>
          <a:xfrm>
            <a:off x="3246120" y="1051560"/>
            <a:ext cx="2514601" cy="1097281"/>
          </a:xfrm>
          <a:prstGeom prst="rect">
            <a:avLst/>
          </a:prstGeom>
          <a:solidFill>
            <a:srgbClr val="1C7293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" name="Text 5"/>
          <p:cNvSpPr txBox="1"/>
          <p:nvPr/>
        </p:nvSpPr>
        <p:spPr>
          <a:xfrm>
            <a:off x="3246120" y="1191259"/>
            <a:ext cx="25146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80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~4 Yıl</a:t>
            </a:r>
          </a:p>
        </p:txBody>
      </p:sp>
      <p:sp>
        <p:nvSpPr>
          <p:cNvPr id="52" name="Text 6"/>
          <p:cNvSpPr txBox="1"/>
          <p:nvPr/>
        </p:nvSpPr>
        <p:spPr>
          <a:xfrm>
            <a:off x="3246120" y="1727507"/>
            <a:ext cx="2514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Tarihsel Veri</a:t>
            </a:r>
          </a:p>
        </p:txBody>
      </p:sp>
      <p:sp>
        <p:nvSpPr>
          <p:cNvPr id="53" name="Shape 7"/>
          <p:cNvSpPr/>
          <p:nvPr/>
        </p:nvSpPr>
        <p:spPr>
          <a:xfrm>
            <a:off x="6035040" y="1051560"/>
            <a:ext cx="2514601" cy="1097281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" name="Text 8"/>
          <p:cNvSpPr txBox="1"/>
          <p:nvPr/>
        </p:nvSpPr>
        <p:spPr>
          <a:xfrm>
            <a:off x="6035040" y="1191259"/>
            <a:ext cx="25146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80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55" name="Text 9"/>
          <p:cNvSpPr txBox="1"/>
          <p:nvPr/>
        </p:nvSpPr>
        <p:spPr>
          <a:xfrm>
            <a:off x="6035040" y="1727507"/>
            <a:ext cx="2514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Sensör Değişkeni</a:t>
            </a:r>
          </a:p>
        </p:txBody>
      </p:sp>
      <p:sp>
        <p:nvSpPr>
          <p:cNvPr id="56" name="Shape 10"/>
          <p:cNvSpPr/>
          <p:nvPr/>
        </p:nvSpPr>
        <p:spPr>
          <a:xfrm>
            <a:off x="8823959" y="1051560"/>
            <a:ext cx="2514601" cy="1097281"/>
          </a:xfrm>
          <a:prstGeom prst="rect">
            <a:avLst/>
          </a:prstGeom>
          <a:solidFill>
            <a:srgbClr val="1C7293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" name="Text 11"/>
          <p:cNvSpPr txBox="1"/>
          <p:nvPr/>
        </p:nvSpPr>
        <p:spPr>
          <a:xfrm>
            <a:off x="8823959" y="1191259"/>
            <a:ext cx="25146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80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60</a:t>
            </a:r>
          </a:p>
        </p:txBody>
      </p:sp>
      <p:sp>
        <p:nvSpPr>
          <p:cNvPr id="58" name="Text 12"/>
          <p:cNvSpPr txBox="1"/>
          <p:nvPr/>
        </p:nvSpPr>
        <p:spPr>
          <a:xfrm>
            <a:off x="8823959" y="1727507"/>
            <a:ext cx="2514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Mühendislik Edilen Feature</a:t>
            </a:r>
          </a:p>
        </p:txBody>
      </p:sp>
      <p:sp>
        <p:nvSpPr>
          <p:cNvPr id="59" name="Shape 13"/>
          <p:cNvSpPr/>
          <p:nvPr/>
        </p:nvSpPr>
        <p:spPr>
          <a:xfrm>
            <a:off x="457200" y="2514600"/>
            <a:ext cx="3429000" cy="23774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" name="Shape 14"/>
          <p:cNvSpPr/>
          <p:nvPr/>
        </p:nvSpPr>
        <p:spPr>
          <a:xfrm>
            <a:off x="640080" y="2606039"/>
            <a:ext cx="365761" cy="365761"/>
          </a:xfrm>
          <a:prstGeom prst="rect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15"/>
          <p:cNvSpPr txBox="1"/>
          <p:nvPr/>
        </p:nvSpPr>
        <p:spPr>
          <a:xfrm>
            <a:off x="640080" y="2668269"/>
            <a:ext cx="3657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2" name="Text 16"/>
          <p:cNvSpPr txBox="1"/>
          <p:nvPr/>
        </p:nvSpPr>
        <p:spPr>
          <a:xfrm>
            <a:off x="1142999" y="2685542"/>
            <a:ext cx="246888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Keşif &amp; Hazırlık</a:t>
            </a:r>
          </a:p>
        </p:txBody>
      </p:sp>
      <p:sp>
        <p:nvSpPr>
          <p:cNvPr id="63" name="Text 17"/>
          <p:cNvSpPr txBox="1"/>
          <p:nvPr/>
        </p:nvSpPr>
        <p:spPr>
          <a:xfrm>
            <a:off x="731519" y="3450089"/>
            <a:ext cx="2926082" cy="963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50000"/>
              </a:lnSpc>
              <a:defRPr sz="1200">
                <a:solidFill>
                  <a:srgbClr val="4B5563"/>
                </a:solidFill>
              </a:defRPr>
            </a:pPr>
            <a:r>
              <a:t>Missing value tespiti</a:t>
            </a:r>
          </a:p>
          <a:p>
            <a:pPr>
              <a:lnSpc>
                <a:spcPct val="150000"/>
              </a:lnSpc>
              <a:defRPr sz="1200">
                <a:solidFill>
                  <a:srgbClr val="4B5563"/>
                </a:solidFill>
              </a:defRPr>
            </a:pPr>
            <a:r>
              <a:t>Mevsimsellik analizi</a:t>
            </a:r>
          </a:p>
          <a:p>
            <a:pPr>
              <a:lnSpc>
                <a:spcPct val="150000"/>
              </a:lnSpc>
              <a:defRPr sz="1200">
                <a:solidFill>
                  <a:srgbClr val="4B5563"/>
                </a:solidFill>
              </a:defRPr>
            </a:pPr>
            <a:r>
              <a:t>6 istatistiksel test ile</a:t>
            </a:r>
          </a:p>
          <a:p>
            <a:pPr>
              <a:lnSpc>
                <a:spcPct val="150000"/>
              </a:lnSpc>
              <a:defRPr sz="1200">
                <a:solidFill>
                  <a:srgbClr val="4B5563"/>
                </a:solidFill>
              </a:defRPr>
            </a:pPr>
            <a:r>
              <a:t>A</a:t>
            </a:r>
            <a:r>
              <a:t>ggregation kararı</a:t>
            </a:r>
          </a:p>
        </p:txBody>
      </p:sp>
      <p:sp>
        <p:nvSpPr>
          <p:cNvPr id="64" name="Shape 18"/>
          <p:cNvSpPr/>
          <p:nvPr/>
        </p:nvSpPr>
        <p:spPr>
          <a:xfrm>
            <a:off x="4160520" y="2514600"/>
            <a:ext cx="3429001" cy="23774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" name="Shape 19"/>
          <p:cNvSpPr/>
          <p:nvPr/>
        </p:nvSpPr>
        <p:spPr>
          <a:xfrm>
            <a:off x="4343400" y="2606039"/>
            <a:ext cx="365761" cy="365761"/>
          </a:xfrm>
          <a:prstGeom prst="rect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20"/>
          <p:cNvSpPr txBox="1"/>
          <p:nvPr/>
        </p:nvSpPr>
        <p:spPr>
          <a:xfrm>
            <a:off x="4343400" y="2668269"/>
            <a:ext cx="3657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7" name="Text 21"/>
          <p:cNvSpPr txBox="1"/>
          <p:nvPr/>
        </p:nvSpPr>
        <p:spPr>
          <a:xfrm>
            <a:off x="4846320" y="2685542"/>
            <a:ext cx="24688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Model Geliştirme</a:t>
            </a:r>
          </a:p>
        </p:txBody>
      </p:sp>
      <p:sp>
        <p:nvSpPr>
          <p:cNvPr id="68" name="Text 22"/>
          <p:cNvSpPr txBox="1"/>
          <p:nvPr/>
        </p:nvSpPr>
        <p:spPr>
          <a:xfrm>
            <a:off x="4434840" y="3450089"/>
            <a:ext cx="2926081" cy="963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50000"/>
              </a:lnSpc>
              <a:defRPr sz="1200">
                <a:solidFill>
                  <a:srgbClr val="4B5563"/>
                </a:solidFill>
              </a:defRPr>
            </a:pPr>
            <a:r>
              <a:t>5 baseline/istatistiksel model</a:t>
            </a:r>
          </a:p>
          <a:p>
            <a:pPr>
              <a:lnSpc>
                <a:spcPct val="150000"/>
              </a:lnSpc>
              <a:defRPr sz="1200">
                <a:solidFill>
                  <a:srgbClr val="4B5563"/>
                </a:solidFill>
              </a:defRPr>
            </a:pPr>
            <a:r>
              <a:t>2 ML model (XGBoost, LightGBM)</a:t>
            </a:r>
          </a:p>
          <a:p>
            <a:pPr>
              <a:lnSpc>
                <a:spcPct val="150000"/>
              </a:lnSpc>
              <a:defRPr sz="1200">
                <a:solidFill>
                  <a:srgbClr val="4B5563"/>
                </a:solidFill>
              </a:defRPr>
            </a:pPr>
            <a:r>
              <a:t>100 deneme ile optimizasyon</a:t>
            </a:r>
          </a:p>
          <a:p>
            <a:pPr>
              <a:lnSpc>
                <a:spcPct val="150000"/>
              </a:lnSpc>
              <a:defRPr sz="1200">
                <a:solidFill>
                  <a:srgbClr val="4B5563"/>
                </a:solidFill>
              </a:defRPr>
            </a:pPr>
            <a:r>
              <a:t>Diebold-Mariano doğrulama</a:t>
            </a:r>
          </a:p>
        </p:txBody>
      </p:sp>
      <p:sp>
        <p:nvSpPr>
          <p:cNvPr id="69" name="Shape 23"/>
          <p:cNvSpPr/>
          <p:nvPr/>
        </p:nvSpPr>
        <p:spPr>
          <a:xfrm>
            <a:off x="7863840" y="2514600"/>
            <a:ext cx="3429001" cy="23774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" name="Shape 24"/>
          <p:cNvSpPr/>
          <p:nvPr/>
        </p:nvSpPr>
        <p:spPr>
          <a:xfrm>
            <a:off x="8046719" y="2606039"/>
            <a:ext cx="365761" cy="365761"/>
          </a:xfrm>
          <a:prstGeom prst="rect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25"/>
          <p:cNvSpPr txBox="1"/>
          <p:nvPr/>
        </p:nvSpPr>
        <p:spPr>
          <a:xfrm>
            <a:off x="8046719" y="2668269"/>
            <a:ext cx="3657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2" name="Text 26"/>
          <p:cNvSpPr txBox="1"/>
          <p:nvPr/>
        </p:nvSpPr>
        <p:spPr>
          <a:xfrm>
            <a:off x="8549640" y="2685542"/>
            <a:ext cx="24688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İş Değeri Çıkarımı</a:t>
            </a:r>
          </a:p>
        </p:txBody>
      </p:sp>
      <p:sp>
        <p:nvSpPr>
          <p:cNvPr id="73" name="Text 27"/>
          <p:cNvSpPr txBox="1"/>
          <p:nvPr/>
        </p:nvSpPr>
        <p:spPr>
          <a:xfrm>
            <a:off x="8138159" y="3450089"/>
            <a:ext cx="2926081" cy="963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50000"/>
              </a:lnSpc>
              <a:defRPr sz="1200">
                <a:solidFill>
                  <a:srgbClr val="4B5563"/>
                </a:solidFill>
              </a:defRPr>
            </a:pPr>
            <a:r>
              <a:t>SHAP açıklanabilirlik</a:t>
            </a:r>
          </a:p>
          <a:p>
            <a:pPr>
              <a:lnSpc>
                <a:spcPct val="150000"/>
              </a:lnSpc>
              <a:defRPr sz="1200">
                <a:solidFill>
                  <a:srgbClr val="4B5563"/>
                </a:solidFill>
              </a:defRPr>
            </a:pPr>
            <a:r>
              <a:t>Tüketim sürücülerinin tespiti</a:t>
            </a:r>
          </a:p>
          <a:p>
            <a:pPr>
              <a:lnSpc>
                <a:spcPct val="150000"/>
              </a:lnSpc>
              <a:defRPr sz="1200">
                <a:solidFill>
                  <a:srgbClr val="4B5563"/>
                </a:solidFill>
              </a:defRPr>
            </a:pPr>
            <a:r>
              <a:t>Maliyet tasarruf senaryoları</a:t>
            </a:r>
          </a:p>
          <a:p>
            <a:pPr>
              <a:lnSpc>
                <a:spcPct val="150000"/>
              </a:lnSpc>
              <a:defRPr sz="1200">
                <a:solidFill>
                  <a:srgbClr val="4B5563"/>
                </a:solidFill>
              </a:defRPr>
            </a:pPr>
            <a:r>
              <a:t>Aksiyon önerileri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274320"/>
            <a:ext cx="502920" cy="502920"/>
          </a:xfrm>
          <a:prstGeom prst="rect">
            <a:avLst/>
          </a:prstGeom>
          <a:ln w="12700">
            <a:miter lim="400000"/>
          </a:ln>
        </p:spPr>
      </p:pic>
      <p:sp>
        <p:nvSpPr>
          <p:cNvPr id="76" name="Text 0"/>
          <p:cNvSpPr txBox="1"/>
          <p:nvPr/>
        </p:nvSpPr>
        <p:spPr>
          <a:xfrm>
            <a:off x="1051560" y="335279"/>
            <a:ext cx="73152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Tüketimi Ne Belirliyor?</a:t>
            </a:r>
          </a:p>
        </p:txBody>
      </p:sp>
      <p:sp>
        <p:nvSpPr>
          <p:cNvPr id="77" name="Text 1"/>
          <p:cNvSpPr txBox="1"/>
          <p:nvPr/>
        </p:nvSpPr>
        <p:spPr>
          <a:xfrm>
            <a:off x="1051560" y="847266"/>
            <a:ext cx="91440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94A3B8"/>
                </a:solidFill>
              </a:defRPr>
            </a:lvl1pPr>
          </a:lstStyle>
          <a:p>
            <a:pPr/>
            <a:r>
              <a:t>Model açıklanabilirlik analizi (SHAP) — iki farklı algoritma aynı sonucu veriyor (ρ=0.986)</a:t>
            </a:r>
          </a:p>
        </p:txBody>
      </p:sp>
      <p:sp>
        <p:nvSpPr>
          <p:cNvPr id="78" name="Shape 2"/>
          <p:cNvSpPr/>
          <p:nvPr/>
        </p:nvSpPr>
        <p:spPr>
          <a:xfrm>
            <a:off x="457200" y="1188719"/>
            <a:ext cx="6400800" cy="36576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" name="Text 3"/>
          <p:cNvSpPr txBox="1"/>
          <p:nvPr/>
        </p:nvSpPr>
        <p:spPr>
          <a:xfrm>
            <a:off x="731519" y="1338580"/>
            <a:ext cx="59436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Tüketim Sürücüleri — Etki Payı (%)</a:t>
            </a:r>
          </a:p>
        </p:txBody>
      </p:sp>
      <p:sp>
        <p:nvSpPr>
          <p:cNvPr id="80" name="Text 4"/>
          <p:cNvSpPr txBox="1"/>
          <p:nvPr/>
        </p:nvSpPr>
        <p:spPr>
          <a:xfrm>
            <a:off x="731519" y="1841807"/>
            <a:ext cx="20116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200">
                <a:solidFill>
                  <a:srgbClr val="374151"/>
                </a:solidFill>
              </a:defRPr>
            </a:lvl1pPr>
          </a:lstStyle>
          <a:p>
            <a:pPr/>
            <a:r>
              <a:t>Su Isıtıcı / Klima</a:t>
            </a:r>
          </a:p>
        </p:txBody>
      </p:sp>
      <p:sp>
        <p:nvSpPr>
          <p:cNvPr id="81" name="Shape 5"/>
          <p:cNvSpPr/>
          <p:nvPr/>
        </p:nvSpPr>
        <p:spPr>
          <a:xfrm>
            <a:off x="2880360" y="1828800"/>
            <a:ext cx="2971801" cy="201169"/>
          </a:xfrm>
          <a:prstGeom prst="rect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Text 6"/>
          <p:cNvSpPr txBox="1"/>
          <p:nvPr/>
        </p:nvSpPr>
        <p:spPr>
          <a:xfrm>
            <a:off x="5897879" y="1853106"/>
            <a:ext cx="548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/>
            <a:r>
              <a:t>%39</a:t>
            </a:r>
          </a:p>
        </p:txBody>
      </p:sp>
      <p:sp>
        <p:nvSpPr>
          <p:cNvPr id="83" name="Text 7"/>
          <p:cNvSpPr txBox="1"/>
          <p:nvPr/>
        </p:nvSpPr>
        <p:spPr>
          <a:xfrm>
            <a:off x="2880360" y="2076195"/>
            <a:ext cx="3200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94A3B8"/>
                </a:solidFill>
              </a:defRPr>
            </a:lvl1pPr>
          </a:lstStyle>
          <a:p>
            <a:pPr/>
            <a:r>
              <a:t>Tüketimin %39'unu tek başına belirliyor</a:t>
            </a:r>
          </a:p>
        </p:txBody>
      </p:sp>
      <p:sp>
        <p:nvSpPr>
          <p:cNvPr id="84" name="Text 8"/>
          <p:cNvSpPr txBox="1"/>
          <p:nvPr/>
        </p:nvSpPr>
        <p:spPr>
          <a:xfrm>
            <a:off x="731519" y="2390447"/>
            <a:ext cx="20116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200">
                <a:solidFill>
                  <a:srgbClr val="374151"/>
                </a:solidFill>
              </a:defRPr>
            </a:lvl1pPr>
          </a:lstStyle>
          <a:p>
            <a:pPr/>
            <a:r>
              <a:t>Önceki Saat Tüketimi</a:t>
            </a:r>
          </a:p>
        </p:txBody>
      </p:sp>
      <p:sp>
        <p:nvSpPr>
          <p:cNvPr id="85" name="Shape 9"/>
          <p:cNvSpPr/>
          <p:nvPr/>
        </p:nvSpPr>
        <p:spPr>
          <a:xfrm>
            <a:off x="2880360" y="2377439"/>
            <a:ext cx="1295401" cy="201169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Text 10"/>
          <p:cNvSpPr txBox="1"/>
          <p:nvPr/>
        </p:nvSpPr>
        <p:spPr>
          <a:xfrm>
            <a:off x="4221479" y="2401746"/>
            <a:ext cx="54864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/>
            <a:r>
              <a:t>%17</a:t>
            </a:r>
          </a:p>
        </p:txBody>
      </p:sp>
      <p:sp>
        <p:nvSpPr>
          <p:cNvPr id="87" name="Text 11"/>
          <p:cNvSpPr txBox="1"/>
          <p:nvPr/>
        </p:nvSpPr>
        <p:spPr>
          <a:xfrm>
            <a:off x="2880360" y="2624835"/>
            <a:ext cx="3200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94A3B8"/>
                </a:solidFill>
              </a:defRPr>
            </a:lvl1pPr>
          </a:lstStyle>
          <a:p>
            <a:pPr/>
            <a:r>
              <a:t>Momentum etkisi — alışkanlık kaynaklı</a:t>
            </a:r>
          </a:p>
        </p:txBody>
      </p:sp>
      <p:sp>
        <p:nvSpPr>
          <p:cNvPr id="88" name="Text 12"/>
          <p:cNvSpPr txBox="1"/>
          <p:nvPr/>
        </p:nvSpPr>
        <p:spPr>
          <a:xfrm>
            <a:off x="731519" y="2939087"/>
            <a:ext cx="20116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200">
                <a:solidFill>
                  <a:srgbClr val="374151"/>
                </a:solidFill>
              </a:defRPr>
            </a:lvl1pPr>
          </a:lstStyle>
          <a:p>
            <a:pPr/>
            <a:r>
              <a:t>Mutfak Cihazları</a:t>
            </a:r>
          </a:p>
        </p:txBody>
      </p:sp>
      <p:sp>
        <p:nvSpPr>
          <p:cNvPr id="89" name="Shape 13"/>
          <p:cNvSpPr/>
          <p:nvPr/>
        </p:nvSpPr>
        <p:spPr>
          <a:xfrm>
            <a:off x="2880360" y="2926079"/>
            <a:ext cx="762001" cy="201169"/>
          </a:xfrm>
          <a:prstGeom prst="rect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Text 14"/>
          <p:cNvSpPr txBox="1"/>
          <p:nvPr/>
        </p:nvSpPr>
        <p:spPr>
          <a:xfrm>
            <a:off x="3688079" y="2950386"/>
            <a:ext cx="548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/>
            <a:r>
              <a:t>%10</a:t>
            </a:r>
          </a:p>
        </p:txBody>
      </p:sp>
      <p:sp>
        <p:nvSpPr>
          <p:cNvPr id="91" name="Text 15"/>
          <p:cNvSpPr txBox="1"/>
          <p:nvPr/>
        </p:nvSpPr>
        <p:spPr>
          <a:xfrm>
            <a:off x="2880360" y="3173476"/>
            <a:ext cx="3200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94A3B8"/>
                </a:solidFill>
              </a:defRPr>
            </a:lvl1pPr>
          </a:lstStyle>
          <a:p>
            <a:pPr/>
            <a:r>
              <a:t>Fırın, bulaşık makinesi, mikrodalga</a:t>
            </a:r>
          </a:p>
        </p:txBody>
      </p:sp>
      <p:sp>
        <p:nvSpPr>
          <p:cNvPr id="92" name="Text 16"/>
          <p:cNvSpPr txBox="1"/>
          <p:nvPr/>
        </p:nvSpPr>
        <p:spPr>
          <a:xfrm>
            <a:off x="731519" y="3487727"/>
            <a:ext cx="20116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200">
                <a:solidFill>
                  <a:srgbClr val="374151"/>
                </a:solidFill>
              </a:defRPr>
            </a:lvl1pPr>
          </a:lstStyle>
          <a:p>
            <a:pPr/>
            <a:r>
              <a:t>Çamaşır / Bulaşık</a:t>
            </a:r>
          </a:p>
        </p:txBody>
      </p:sp>
      <p:sp>
        <p:nvSpPr>
          <p:cNvPr id="93" name="Shape 17"/>
          <p:cNvSpPr/>
          <p:nvPr/>
        </p:nvSpPr>
        <p:spPr>
          <a:xfrm>
            <a:off x="2880360" y="3474720"/>
            <a:ext cx="609601" cy="201169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Text 18"/>
          <p:cNvSpPr txBox="1"/>
          <p:nvPr/>
        </p:nvSpPr>
        <p:spPr>
          <a:xfrm>
            <a:off x="3535679" y="3499025"/>
            <a:ext cx="54864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/>
            <a:r>
              <a:t>%8</a:t>
            </a:r>
          </a:p>
        </p:txBody>
      </p:sp>
      <p:sp>
        <p:nvSpPr>
          <p:cNvPr id="95" name="Text 19"/>
          <p:cNvSpPr txBox="1"/>
          <p:nvPr/>
        </p:nvSpPr>
        <p:spPr>
          <a:xfrm>
            <a:off x="2880360" y="3722116"/>
            <a:ext cx="3200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94A3B8"/>
                </a:solidFill>
              </a:defRPr>
            </a:lvl1pPr>
          </a:lstStyle>
          <a:p>
            <a:pPr/>
            <a:r>
              <a:t>Çamaşır, kurutma, buzdolabı</a:t>
            </a:r>
          </a:p>
        </p:txBody>
      </p:sp>
      <p:sp>
        <p:nvSpPr>
          <p:cNvPr id="96" name="Text 20"/>
          <p:cNvSpPr txBox="1"/>
          <p:nvPr/>
        </p:nvSpPr>
        <p:spPr>
          <a:xfrm>
            <a:off x="731519" y="4036367"/>
            <a:ext cx="20116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200">
                <a:solidFill>
                  <a:srgbClr val="374151"/>
                </a:solidFill>
              </a:defRPr>
            </a:lvl1pPr>
          </a:lstStyle>
          <a:p>
            <a:pPr/>
            <a:r>
              <a:t>Voltaj Sapması</a:t>
            </a:r>
          </a:p>
        </p:txBody>
      </p:sp>
      <p:sp>
        <p:nvSpPr>
          <p:cNvPr id="97" name="Shape 21"/>
          <p:cNvSpPr/>
          <p:nvPr/>
        </p:nvSpPr>
        <p:spPr>
          <a:xfrm>
            <a:off x="2880360" y="4023359"/>
            <a:ext cx="457201" cy="201169"/>
          </a:xfrm>
          <a:prstGeom prst="rect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Text 22"/>
          <p:cNvSpPr txBox="1"/>
          <p:nvPr/>
        </p:nvSpPr>
        <p:spPr>
          <a:xfrm>
            <a:off x="3383279" y="4047666"/>
            <a:ext cx="5486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/>
            <a:r>
              <a:t>%6</a:t>
            </a:r>
          </a:p>
        </p:txBody>
      </p:sp>
      <p:sp>
        <p:nvSpPr>
          <p:cNvPr id="99" name="Text 23"/>
          <p:cNvSpPr txBox="1"/>
          <p:nvPr/>
        </p:nvSpPr>
        <p:spPr>
          <a:xfrm>
            <a:off x="2880360" y="4270755"/>
            <a:ext cx="3200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94A3B8"/>
                </a:solidFill>
              </a:defRPr>
            </a:lvl1pPr>
          </a:lstStyle>
          <a:p>
            <a:pPr/>
            <a:r>
              <a:t>Şebeke kalitesi düşünce tüketim artar</a:t>
            </a:r>
          </a:p>
        </p:txBody>
      </p:sp>
      <p:sp>
        <p:nvSpPr>
          <p:cNvPr id="100" name="Shape 24"/>
          <p:cNvSpPr/>
          <p:nvPr/>
        </p:nvSpPr>
        <p:spPr>
          <a:xfrm>
            <a:off x="7223759" y="1188719"/>
            <a:ext cx="4206241" cy="3657601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" name="Text 25"/>
          <p:cNvSpPr txBox="1"/>
          <p:nvPr/>
        </p:nvSpPr>
        <p:spPr>
          <a:xfrm>
            <a:off x="7498080" y="1410969"/>
            <a:ext cx="36576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Aksiyona Dönüştürülebilir!</a:t>
            </a:r>
          </a:p>
        </p:txBody>
      </p:sp>
      <p:sp>
        <p:nvSpPr>
          <p:cNvPr id="102" name="Text 26"/>
          <p:cNvSpPr txBox="1"/>
          <p:nvPr/>
        </p:nvSpPr>
        <p:spPr>
          <a:xfrm>
            <a:off x="7498080" y="1910387"/>
            <a:ext cx="3657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120315" indent="-120315">
              <a:buSzPct val="100000"/>
              <a:buChar char="•"/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Su Isıtıcı Optimizasyonu</a:t>
            </a:r>
          </a:p>
        </p:txBody>
      </p:sp>
      <p:sp>
        <p:nvSpPr>
          <p:cNvPr id="103" name="Text 27"/>
          <p:cNvSpPr txBox="1"/>
          <p:nvPr/>
        </p:nvSpPr>
        <p:spPr>
          <a:xfrm>
            <a:off x="7498080" y="2121207"/>
            <a:ext cx="3657601" cy="329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94A3B8"/>
                </a:solidFill>
              </a:defRPr>
            </a:lvl1pPr>
          </a:lstStyle>
          <a:p>
            <a:pPr/>
            <a:r>
              <a:t>Tüketimin %39'u buradan. Timer ile off-peak saatlere kaydırmak tek başına %15-20 tasarruf</a:t>
            </a:r>
          </a:p>
        </p:txBody>
      </p:sp>
      <p:sp>
        <p:nvSpPr>
          <p:cNvPr id="104" name="Text 28"/>
          <p:cNvSpPr txBox="1"/>
          <p:nvPr/>
        </p:nvSpPr>
        <p:spPr>
          <a:xfrm>
            <a:off x="7498080" y="2568755"/>
            <a:ext cx="3657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120315" indent="-120315">
              <a:buSzPct val="100000"/>
              <a:buChar char="•"/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Klima Programlama</a:t>
            </a:r>
          </a:p>
        </p:txBody>
      </p:sp>
      <p:sp>
        <p:nvSpPr>
          <p:cNvPr id="105" name="Text 29"/>
          <p:cNvSpPr txBox="1"/>
          <p:nvPr/>
        </p:nvSpPr>
        <p:spPr>
          <a:xfrm>
            <a:off x="7498080" y="2875832"/>
            <a:ext cx="3657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94A3B8"/>
                </a:solidFill>
              </a:defRPr>
            </a:lvl1pPr>
          </a:lstStyle>
          <a:p>
            <a:pPr/>
            <a:r>
              <a:t>Kış aylarında ısıtma dominant. 1°C düşürmek ≈ %7 tasarruf</a:t>
            </a:r>
          </a:p>
        </p:txBody>
      </p:sp>
      <p:sp>
        <p:nvSpPr>
          <p:cNvPr id="106" name="Text 30"/>
          <p:cNvSpPr txBox="1"/>
          <p:nvPr/>
        </p:nvSpPr>
        <p:spPr>
          <a:xfrm>
            <a:off x="7498080" y="3227123"/>
            <a:ext cx="3657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120315" indent="-120315">
              <a:buSzPct val="100000"/>
              <a:buChar char="•"/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Mutfak Peak Yönetimi</a:t>
            </a:r>
          </a:p>
        </p:txBody>
      </p:sp>
      <p:sp>
        <p:nvSpPr>
          <p:cNvPr id="107" name="Text 31"/>
          <p:cNvSpPr txBox="1"/>
          <p:nvPr/>
        </p:nvSpPr>
        <p:spPr>
          <a:xfrm>
            <a:off x="7498080" y="3437943"/>
            <a:ext cx="3657601" cy="329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94A3B8"/>
                </a:solidFill>
              </a:defRPr>
            </a:lvl1pPr>
          </a:lstStyle>
          <a:p>
            <a:pPr/>
            <a:r>
              <a:t>Akşam 19-21 peak. Bulaşık makinesini 23:00'e al → %8-10 tarife avantajı</a:t>
            </a:r>
          </a:p>
        </p:txBody>
      </p:sp>
      <p:sp>
        <p:nvSpPr>
          <p:cNvPr id="108" name="Text 32"/>
          <p:cNvSpPr txBox="1"/>
          <p:nvPr/>
        </p:nvSpPr>
        <p:spPr>
          <a:xfrm>
            <a:off x="7498080" y="3885491"/>
            <a:ext cx="3657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120315" indent="-120315">
              <a:buSzPct val="100000"/>
              <a:buChar char="•"/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Voltaj İzleme</a:t>
            </a:r>
          </a:p>
        </p:txBody>
      </p:sp>
      <p:sp>
        <p:nvSpPr>
          <p:cNvPr id="109" name="Text 33"/>
          <p:cNvSpPr txBox="1"/>
          <p:nvPr/>
        </p:nvSpPr>
        <p:spPr>
          <a:xfrm>
            <a:off x="7498080" y="4192568"/>
            <a:ext cx="3657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94A3B8"/>
                </a:solidFill>
              </a:defRPr>
            </a:lvl1pPr>
          </a:lstStyle>
          <a:p>
            <a:pPr/>
            <a:r>
              <a:t>Düşük voltaj = yüksek tüketim. Voltaj regülatörü ROI: 6 ay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0"/>
          <p:cNvSpPr/>
          <p:nvPr/>
        </p:nvSpPr>
        <p:spPr>
          <a:xfrm>
            <a:off x="-1" y="0"/>
            <a:ext cx="73154" cy="5148072"/>
          </a:xfrm>
          <a:prstGeom prst="rect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1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274320"/>
            <a:ext cx="502920" cy="502920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Text 1"/>
          <p:cNvSpPr txBox="1"/>
          <p:nvPr/>
        </p:nvSpPr>
        <p:spPr>
          <a:xfrm>
            <a:off x="1051560" y="335279"/>
            <a:ext cx="73152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Tahmin Performansı</a:t>
            </a:r>
          </a:p>
        </p:txBody>
      </p:sp>
      <p:sp>
        <p:nvSpPr>
          <p:cNvPr id="114" name="Shape 2"/>
          <p:cNvSpPr/>
          <p:nvPr/>
        </p:nvSpPr>
        <p:spPr>
          <a:xfrm>
            <a:off x="457200" y="1051560"/>
            <a:ext cx="3429000" cy="1371601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" name="Text 3"/>
          <p:cNvSpPr txBox="1"/>
          <p:nvPr/>
        </p:nvSpPr>
        <p:spPr>
          <a:xfrm>
            <a:off x="457200" y="1188719"/>
            <a:ext cx="342900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20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0.130 kW</a:t>
            </a:r>
          </a:p>
        </p:txBody>
      </p:sp>
      <p:sp>
        <p:nvSpPr>
          <p:cNvPr id="116" name="Text 4"/>
          <p:cNvSpPr txBox="1"/>
          <p:nvPr/>
        </p:nvSpPr>
        <p:spPr>
          <a:xfrm>
            <a:off x="457200" y="1745419"/>
            <a:ext cx="342900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Ortalama Hata (MAE)</a:t>
            </a:r>
          </a:p>
        </p:txBody>
      </p:sp>
      <p:sp>
        <p:nvSpPr>
          <p:cNvPr id="117" name="Text 5"/>
          <p:cNvSpPr txBox="1"/>
          <p:nvPr/>
        </p:nvSpPr>
        <p:spPr>
          <a:xfrm>
            <a:off x="457200" y="2011724"/>
            <a:ext cx="34290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94A3B8"/>
                </a:solidFill>
              </a:defRPr>
            </a:lvl1pPr>
          </a:lstStyle>
          <a:p>
            <a:pPr/>
            <a:r>
              <a:t>Saatlik tahmin sapması</a:t>
            </a:r>
          </a:p>
        </p:txBody>
      </p:sp>
      <p:sp>
        <p:nvSpPr>
          <p:cNvPr id="118" name="Shape 6"/>
          <p:cNvSpPr/>
          <p:nvPr/>
        </p:nvSpPr>
        <p:spPr>
          <a:xfrm>
            <a:off x="4160520" y="1051560"/>
            <a:ext cx="3429001" cy="1371601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" name="Text 7"/>
          <p:cNvSpPr txBox="1"/>
          <p:nvPr/>
        </p:nvSpPr>
        <p:spPr>
          <a:xfrm>
            <a:off x="4160520" y="1188719"/>
            <a:ext cx="34290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20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%91</a:t>
            </a:r>
          </a:p>
        </p:txBody>
      </p:sp>
      <p:sp>
        <p:nvSpPr>
          <p:cNvPr id="120" name="Text 8"/>
          <p:cNvSpPr txBox="1"/>
          <p:nvPr/>
        </p:nvSpPr>
        <p:spPr>
          <a:xfrm>
            <a:off x="4160520" y="1745419"/>
            <a:ext cx="34290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Açıklama Oranı (R²)</a:t>
            </a:r>
          </a:p>
        </p:txBody>
      </p:sp>
      <p:sp>
        <p:nvSpPr>
          <p:cNvPr id="121" name="Text 9"/>
          <p:cNvSpPr txBox="1"/>
          <p:nvPr/>
        </p:nvSpPr>
        <p:spPr>
          <a:xfrm>
            <a:off x="4160520" y="2011724"/>
            <a:ext cx="3429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94A3B8"/>
                </a:solidFill>
              </a:defRPr>
            </a:lvl1pPr>
          </a:lstStyle>
          <a:p>
            <a:pPr/>
            <a:r>
              <a:t>Tüketim varyansının %91'i</a:t>
            </a:r>
          </a:p>
        </p:txBody>
      </p:sp>
      <p:sp>
        <p:nvSpPr>
          <p:cNvPr id="122" name="Shape 10"/>
          <p:cNvSpPr/>
          <p:nvPr/>
        </p:nvSpPr>
        <p:spPr>
          <a:xfrm>
            <a:off x="7863840" y="1051560"/>
            <a:ext cx="3429001" cy="1371601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" name="Text 11"/>
          <p:cNvSpPr txBox="1"/>
          <p:nvPr/>
        </p:nvSpPr>
        <p:spPr>
          <a:xfrm>
            <a:off x="7863840" y="1188719"/>
            <a:ext cx="34290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200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%65</a:t>
            </a:r>
          </a:p>
        </p:txBody>
      </p:sp>
      <p:sp>
        <p:nvSpPr>
          <p:cNvPr id="124" name="Text 12"/>
          <p:cNvSpPr txBox="1"/>
          <p:nvPr/>
        </p:nvSpPr>
        <p:spPr>
          <a:xfrm>
            <a:off x="7863840" y="1745419"/>
            <a:ext cx="34290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İyileşme</a:t>
            </a:r>
          </a:p>
        </p:txBody>
      </p:sp>
      <p:sp>
        <p:nvSpPr>
          <p:cNvPr id="125" name="Text 13"/>
          <p:cNvSpPr txBox="1"/>
          <p:nvPr/>
        </p:nvSpPr>
        <p:spPr>
          <a:xfrm>
            <a:off x="7863840" y="2011724"/>
            <a:ext cx="3429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94A3B8"/>
                </a:solidFill>
              </a:defRPr>
            </a:lvl1pPr>
          </a:lstStyle>
          <a:p>
            <a:pPr/>
            <a:r>
              <a:t>Basit tahmine göre hata azalması</a:t>
            </a:r>
          </a:p>
        </p:txBody>
      </p:sp>
      <p:sp>
        <p:nvSpPr>
          <p:cNvPr id="126" name="Text 14"/>
          <p:cNvSpPr txBox="1"/>
          <p:nvPr/>
        </p:nvSpPr>
        <p:spPr>
          <a:xfrm>
            <a:off x="457200" y="280542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Bu Ne Anlama Geliyor?</a:t>
            </a:r>
          </a:p>
        </p:txBody>
      </p:sp>
      <p:sp>
        <p:nvSpPr>
          <p:cNvPr id="127" name="Text 15"/>
          <p:cNvSpPr txBox="1"/>
          <p:nvPr/>
        </p:nvSpPr>
        <p:spPr>
          <a:xfrm>
            <a:off x="457200" y="3304847"/>
            <a:ext cx="22860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2C39A"/>
                </a:solidFill>
              </a:defRPr>
            </a:lvl1pPr>
          </a:lstStyle>
          <a:p>
            <a:pPr/>
            <a:r>
              <a:t>MAE = 0.130 kW</a:t>
            </a:r>
          </a:p>
        </p:txBody>
      </p:sp>
      <p:sp>
        <p:nvSpPr>
          <p:cNvPr id="128" name="Text 16"/>
          <p:cNvSpPr txBox="1"/>
          <p:nvPr/>
        </p:nvSpPr>
        <p:spPr>
          <a:xfrm>
            <a:off x="2834640" y="3430445"/>
            <a:ext cx="850392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Saatlik tahmin ortalama 130W sapıyor — bir ampulden az. Enerji alım kararları bu hassasiyetle verilebilir.</a:t>
            </a:r>
          </a:p>
        </p:txBody>
      </p:sp>
      <p:sp>
        <p:nvSpPr>
          <p:cNvPr id="129" name="Text 17"/>
          <p:cNvSpPr txBox="1"/>
          <p:nvPr/>
        </p:nvSpPr>
        <p:spPr>
          <a:xfrm>
            <a:off x="457200" y="3899207"/>
            <a:ext cx="22860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2C39A"/>
                </a:solidFill>
              </a:defRPr>
            </a:lvl1pPr>
          </a:lstStyle>
          <a:p>
            <a:pPr/>
            <a:r>
              <a:t>R² = 0.91</a:t>
            </a:r>
          </a:p>
        </p:txBody>
      </p:sp>
      <p:sp>
        <p:nvSpPr>
          <p:cNvPr id="130" name="Text 18"/>
          <p:cNvSpPr txBox="1"/>
          <p:nvPr/>
        </p:nvSpPr>
        <p:spPr>
          <a:xfrm>
            <a:off x="2834640" y="4024805"/>
            <a:ext cx="850392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Tüketimdeki dalgalanmaların %91'ini açıklıyoruz. Kalan %9 — beklenmedik olaylar (misafir, arıza).</a:t>
            </a:r>
          </a:p>
        </p:txBody>
      </p:sp>
      <p:sp>
        <p:nvSpPr>
          <p:cNvPr id="131" name="Text 19"/>
          <p:cNvSpPr txBox="1"/>
          <p:nvPr/>
        </p:nvSpPr>
        <p:spPr>
          <a:xfrm>
            <a:off x="457200" y="4493567"/>
            <a:ext cx="22860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2C39A"/>
                </a:solidFill>
              </a:defRPr>
            </a:lvl1pPr>
          </a:lstStyle>
          <a:p>
            <a:pPr/>
            <a:r>
              <a:t>Uzun vade daha iyi</a:t>
            </a:r>
          </a:p>
        </p:txBody>
      </p:sp>
      <p:sp>
        <p:nvSpPr>
          <p:cNvPr id="132" name="Text 20"/>
          <p:cNvSpPr txBox="1"/>
          <p:nvPr/>
        </p:nvSpPr>
        <p:spPr>
          <a:xfrm>
            <a:off x="2834640" y="4619165"/>
            <a:ext cx="850392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1 gün sonrası MAE=0.17, 2 hafta sonrası MAE=0.13 — model uzun vadede daha da güvenilir.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274320"/>
            <a:ext cx="502920" cy="502920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Text 0"/>
          <p:cNvSpPr txBox="1"/>
          <p:nvPr/>
        </p:nvSpPr>
        <p:spPr>
          <a:xfrm>
            <a:off x="1051560" y="335279"/>
            <a:ext cx="73152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Maliyet Tasarruf Senaryosu</a:t>
            </a:r>
          </a:p>
        </p:txBody>
      </p:sp>
      <p:sp>
        <p:nvSpPr>
          <p:cNvPr id="136" name="Text 1"/>
          <p:cNvSpPr txBox="1"/>
          <p:nvPr/>
        </p:nvSpPr>
        <p:spPr>
          <a:xfrm>
            <a:off x="1051560" y="823004"/>
            <a:ext cx="9144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94A3B8"/>
                </a:solidFill>
              </a:defRPr>
            </a:lvl1pPr>
          </a:lstStyle>
          <a:p>
            <a:pPr/>
            <a:r>
              <a:t>Fransa konut elektrik tarifesi (EDF Tempo) üzerinden hesaplanmıştır</a:t>
            </a:r>
          </a:p>
        </p:txBody>
      </p:sp>
      <p:sp>
        <p:nvSpPr>
          <p:cNvPr id="137" name="Shape 2"/>
          <p:cNvSpPr/>
          <p:nvPr/>
        </p:nvSpPr>
        <p:spPr>
          <a:xfrm>
            <a:off x="457200" y="1188719"/>
            <a:ext cx="10515600" cy="29260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aphicFrame>
        <p:nvGraphicFramePr>
          <p:cNvPr id="138" name="Table 0"/>
          <p:cNvGraphicFramePr/>
          <p:nvPr/>
        </p:nvGraphicFramePr>
        <p:xfrm>
          <a:off x="640080" y="1371600"/>
          <a:ext cx="10149840" cy="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286000"/>
                <a:gridCol w="3657600"/>
                <a:gridCol w="2103120"/>
                <a:gridCol w="2103120"/>
              </a:tblGrid>
              <a:tr h="508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Strateji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Mekanizma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Yıllık Tasarruf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Etkisi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065A82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74151"/>
                          </a:solidFill>
                        </a:rPr>
                        <a:t>Yük Kaydırma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74151"/>
                          </a:solidFill>
                        </a:rPr>
                        <a:t>Su ısıtıcı + bulaşık makinesini off-peak saatlere taşı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16A34A"/>
                          </a:solidFill>
                        </a:rPr>
                        <a:t>€180 – €240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16A34A"/>
                          </a:solidFill>
                        </a:rPr>
                        <a:t>%4-6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74151"/>
                          </a:solidFill>
                        </a:rPr>
                        <a:t>Peak Shaving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74151"/>
                          </a:solidFill>
                        </a:rPr>
                        <a:t>Akşam 19-21 peak'ini tahminle önceden düşür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16A34A"/>
                          </a:solidFill>
                        </a:rPr>
                        <a:t>€120 – €180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16A34A"/>
                          </a:solidFill>
                        </a:rPr>
                        <a:t>%3-4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74151"/>
                          </a:solidFill>
                        </a:rPr>
                        <a:t>Klima Optimizasyonu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74151"/>
                          </a:solidFill>
                        </a:rPr>
                        <a:t>Tahmin bazlı ön-ısıtma + 1°C düşürme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16A34A"/>
                          </a:solidFill>
                        </a:rPr>
                        <a:t>€150 – €200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16A34A"/>
                          </a:solidFill>
                        </a:rPr>
                        <a:t>%3-5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74151"/>
                          </a:solidFill>
                        </a:rPr>
                        <a:t>Anomali Tespiti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374151"/>
                          </a:solidFill>
                        </a:rPr>
                        <a:t>Anormal tüketim = erken arıza uyarısı → bakım planla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16A34A"/>
                          </a:solidFill>
                        </a:rPr>
                        <a:t>€100 – €300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16A34A"/>
                          </a:solidFill>
                        </a:rPr>
                        <a:t>%2-5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9" name="Shape 3"/>
          <p:cNvSpPr/>
          <p:nvPr/>
        </p:nvSpPr>
        <p:spPr>
          <a:xfrm>
            <a:off x="3200400" y="3931920"/>
            <a:ext cx="5029200" cy="731521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" name="Text 4"/>
          <p:cNvSpPr txBox="1"/>
          <p:nvPr/>
        </p:nvSpPr>
        <p:spPr>
          <a:xfrm>
            <a:off x="3200400" y="4056379"/>
            <a:ext cx="5029200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Toplam Potansiyel: €550 – €920 / yıl (%8-12 tasarruf)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274320"/>
            <a:ext cx="502920" cy="502920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Text 0"/>
          <p:cNvSpPr txBox="1"/>
          <p:nvPr/>
        </p:nvSpPr>
        <p:spPr>
          <a:xfrm>
            <a:off x="1051560" y="354329"/>
            <a:ext cx="91440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Tüketim Pattern'ları</a:t>
            </a:r>
          </a:p>
        </p:txBody>
      </p:sp>
      <p:sp>
        <p:nvSpPr>
          <p:cNvPr id="144" name="Shape 1"/>
          <p:cNvSpPr/>
          <p:nvPr/>
        </p:nvSpPr>
        <p:spPr>
          <a:xfrm>
            <a:off x="457200" y="1051559"/>
            <a:ext cx="3429000" cy="37490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" name="Shape 2"/>
          <p:cNvSpPr/>
          <p:nvPr/>
        </p:nvSpPr>
        <p:spPr>
          <a:xfrm>
            <a:off x="594359" y="1051560"/>
            <a:ext cx="3154682" cy="54865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Text 3"/>
          <p:cNvSpPr txBox="1"/>
          <p:nvPr/>
        </p:nvSpPr>
        <p:spPr>
          <a:xfrm>
            <a:off x="685799" y="1319530"/>
            <a:ext cx="292608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Günlük Çift Peak</a:t>
            </a:r>
          </a:p>
        </p:txBody>
      </p:sp>
      <p:sp>
        <p:nvSpPr>
          <p:cNvPr id="147" name="Text 4"/>
          <p:cNvSpPr txBox="1"/>
          <p:nvPr/>
        </p:nvSpPr>
        <p:spPr>
          <a:xfrm>
            <a:off x="685799" y="1784526"/>
            <a:ext cx="292608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65A82"/>
                </a:solidFill>
              </a:defRPr>
            </a:lvl1pPr>
          </a:lstStyle>
          <a:p>
            <a:pPr/>
            <a:r>
              <a:t>Bulgu:</a:t>
            </a:r>
          </a:p>
        </p:txBody>
      </p:sp>
      <p:sp>
        <p:nvSpPr>
          <p:cNvPr id="148" name="Text 5"/>
          <p:cNvSpPr txBox="1"/>
          <p:nvPr/>
        </p:nvSpPr>
        <p:spPr>
          <a:xfrm>
            <a:off x="685799" y="2150645"/>
            <a:ext cx="2926082" cy="545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100">
                <a:solidFill>
                  <a:srgbClr val="4B5563"/>
                </a:solidFill>
              </a:defRPr>
            </a:lvl1pPr>
          </a:lstStyle>
          <a:p>
            <a:pPr/>
            <a:r>
              <a:t>Sabah 07-08 ve akşam 19-21 olmak üzere günde 2 tüketim zirvesi. Akşam peak sabahtan %25 daha yüksek.</a:t>
            </a:r>
          </a:p>
        </p:txBody>
      </p:sp>
      <p:sp>
        <p:nvSpPr>
          <p:cNvPr id="149" name="Shape 6"/>
          <p:cNvSpPr/>
          <p:nvPr/>
        </p:nvSpPr>
        <p:spPr>
          <a:xfrm>
            <a:off x="640080" y="3108960"/>
            <a:ext cx="3063240" cy="914401"/>
          </a:xfrm>
          <a:prstGeom prst="rect">
            <a:avLst/>
          </a:prstGeom>
          <a:solidFill>
            <a:srgbClr val="F0FDF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Text 7"/>
          <p:cNvSpPr txBox="1"/>
          <p:nvPr/>
        </p:nvSpPr>
        <p:spPr>
          <a:xfrm>
            <a:off x="777240" y="3247566"/>
            <a:ext cx="2743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6A34A"/>
                </a:solidFill>
              </a:defRPr>
            </a:lvl1pPr>
          </a:lstStyle>
          <a:p>
            <a:pPr/>
            <a:r>
              <a:t>→ Aksiyon:</a:t>
            </a:r>
          </a:p>
        </p:txBody>
      </p:sp>
      <p:sp>
        <p:nvSpPr>
          <p:cNvPr id="151" name="Text 8"/>
          <p:cNvSpPr txBox="1"/>
          <p:nvPr/>
        </p:nvSpPr>
        <p:spPr>
          <a:xfrm>
            <a:off x="777240" y="3517348"/>
            <a:ext cx="2743201" cy="326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374151"/>
                </a:solidFill>
              </a:defRPr>
            </a:lvl1pPr>
          </a:lstStyle>
          <a:p>
            <a:pPr/>
            <a:r>
              <a:t>Akşam peak'ini tahminle → ağır cihazları 22:00 sonrasına kaydır</a:t>
            </a:r>
          </a:p>
        </p:txBody>
      </p:sp>
      <p:sp>
        <p:nvSpPr>
          <p:cNvPr id="152" name="Shape 9"/>
          <p:cNvSpPr/>
          <p:nvPr/>
        </p:nvSpPr>
        <p:spPr>
          <a:xfrm>
            <a:off x="4160520" y="1051559"/>
            <a:ext cx="3429001" cy="37490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" name="Shape 10"/>
          <p:cNvSpPr/>
          <p:nvPr/>
        </p:nvSpPr>
        <p:spPr>
          <a:xfrm>
            <a:off x="4297679" y="1051560"/>
            <a:ext cx="3154682" cy="54865"/>
          </a:xfrm>
          <a:prstGeom prst="rect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11"/>
          <p:cNvSpPr txBox="1"/>
          <p:nvPr/>
        </p:nvSpPr>
        <p:spPr>
          <a:xfrm>
            <a:off x="4389120" y="1319530"/>
            <a:ext cx="29260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Kış = 2× Yaz</a:t>
            </a:r>
          </a:p>
        </p:txBody>
      </p:sp>
      <p:sp>
        <p:nvSpPr>
          <p:cNvPr id="155" name="Text 12"/>
          <p:cNvSpPr txBox="1"/>
          <p:nvPr/>
        </p:nvSpPr>
        <p:spPr>
          <a:xfrm>
            <a:off x="4389120" y="1784526"/>
            <a:ext cx="29260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65A82"/>
                </a:solidFill>
              </a:defRPr>
            </a:lvl1pPr>
          </a:lstStyle>
          <a:p>
            <a:pPr/>
            <a:r>
              <a:t>Bulgu:</a:t>
            </a:r>
          </a:p>
        </p:txBody>
      </p:sp>
      <p:sp>
        <p:nvSpPr>
          <p:cNvPr id="156" name="Text 13"/>
          <p:cNvSpPr txBox="1"/>
          <p:nvPr/>
        </p:nvSpPr>
        <p:spPr>
          <a:xfrm>
            <a:off x="4389120" y="2253335"/>
            <a:ext cx="2926081" cy="33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100">
                <a:solidFill>
                  <a:srgbClr val="4B5563"/>
                </a:solidFill>
              </a:defRPr>
            </a:lvl1pPr>
          </a:lstStyle>
          <a:p>
            <a:pPr/>
            <a:r>
              <a:t>Kış aylarında ortalama 1.4 kW vs yaz 0.65 kW. Su ısıtıcı/klima dominant.</a:t>
            </a:r>
          </a:p>
        </p:txBody>
      </p:sp>
      <p:sp>
        <p:nvSpPr>
          <p:cNvPr id="157" name="Shape 14"/>
          <p:cNvSpPr/>
          <p:nvPr/>
        </p:nvSpPr>
        <p:spPr>
          <a:xfrm>
            <a:off x="4343400" y="3108960"/>
            <a:ext cx="3063240" cy="914401"/>
          </a:xfrm>
          <a:prstGeom prst="rect">
            <a:avLst/>
          </a:prstGeom>
          <a:solidFill>
            <a:srgbClr val="F0FDF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 15"/>
          <p:cNvSpPr txBox="1"/>
          <p:nvPr/>
        </p:nvSpPr>
        <p:spPr>
          <a:xfrm>
            <a:off x="4480559" y="3247566"/>
            <a:ext cx="2743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6A34A"/>
                </a:solidFill>
              </a:defRPr>
            </a:lvl1pPr>
          </a:lstStyle>
          <a:p>
            <a:pPr/>
            <a:r>
              <a:t>→ Aksiyon:</a:t>
            </a:r>
          </a:p>
        </p:txBody>
      </p:sp>
      <p:sp>
        <p:nvSpPr>
          <p:cNvPr id="159" name="Text 16"/>
          <p:cNvSpPr txBox="1"/>
          <p:nvPr/>
        </p:nvSpPr>
        <p:spPr>
          <a:xfrm>
            <a:off x="4480559" y="3517348"/>
            <a:ext cx="2743201" cy="326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374151"/>
                </a:solidFill>
              </a:defRPr>
            </a:lvl1pPr>
          </a:lstStyle>
          <a:p>
            <a:pPr/>
            <a:r>
              <a:t>Kış bütçesini yazın 2 katı planla → sürpriz fatura yok</a:t>
            </a:r>
          </a:p>
        </p:txBody>
      </p:sp>
      <p:sp>
        <p:nvSpPr>
          <p:cNvPr id="160" name="Shape 17"/>
          <p:cNvSpPr/>
          <p:nvPr/>
        </p:nvSpPr>
        <p:spPr>
          <a:xfrm>
            <a:off x="7863840" y="1051559"/>
            <a:ext cx="3429001" cy="37490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" name="Shape 18"/>
          <p:cNvSpPr/>
          <p:nvPr/>
        </p:nvSpPr>
        <p:spPr>
          <a:xfrm>
            <a:off x="8001000" y="1051560"/>
            <a:ext cx="3154681" cy="54865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Text 19"/>
          <p:cNvSpPr txBox="1"/>
          <p:nvPr/>
        </p:nvSpPr>
        <p:spPr>
          <a:xfrm>
            <a:off x="8092440" y="1319530"/>
            <a:ext cx="29260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Hafta Sonu +%17</a:t>
            </a:r>
          </a:p>
        </p:txBody>
      </p:sp>
      <p:sp>
        <p:nvSpPr>
          <p:cNvPr id="163" name="Text 20"/>
          <p:cNvSpPr txBox="1"/>
          <p:nvPr/>
        </p:nvSpPr>
        <p:spPr>
          <a:xfrm>
            <a:off x="8092440" y="1784526"/>
            <a:ext cx="29260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65A82"/>
                </a:solidFill>
              </a:defRPr>
            </a:lvl1pPr>
          </a:lstStyle>
          <a:p>
            <a:pPr/>
            <a:r>
              <a:t>Bulgu:</a:t>
            </a:r>
          </a:p>
        </p:txBody>
      </p:sp>
      <p:sp>
        <p:nvSpPr>
          <p:cNvPr id="164" name="Text 21"/>
          <p:cNvSpPr txBox="1"/>
          <p:nvPr/>
        </p:nvSpPr>
        <p:spPr>
          <a:xfrm>
            <a:off x="8092440" y="2253335"/>
            <a:ext cx="2926081" cy="33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100">
                <a:solidFill>
                  <a:srgbClr val="4B5563"/>
                </a:solidFill>
              </a:defRPr>
            </a:lvl1pPr>
          </a:lstStyle>
          <a:p>
            <a:pPr/>
            <a:r>
              <a:t>Hafta sonu mean=1.22 kW vs hafta içi 1.04 kW (+%17). Geç kalkış, evde kalma etkisi.</a:t>
            </a:r>
          </a:p>
        </p:txBody>
      </p:sp>
      <p:sp>
        <p:nvSpPr>
          <p:cNvPr id="165" name="Shape 22"/>
          <p:cNvSpPr/>
          <p:nvPr/>
        </p:nvSpPr>
        <p:spPr>
          <a:xfrm>
            <a:off x="8046719" y="3108960"/>
            <a:ext cx="3063241" cy="914401"/>
          </a:xfrm>
          <a:prstGeom prst="rect">
            <a:avLst/>
          </a:prstGeom>
          <a:solidFill>
            <a:srgbClr val="F0FDF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23"/>
          <p:cNvSpPr txBox="1"/>
          <p:nvPr/>
        </p:nvSpPr>
        <p:spPr>
          <a:xfrm>
            <a:off x="8183880" y="3247566"/>
            <a:ext cx="2743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6A34A"/>
                </a:solidFill>
              </a:defRPr>
            </a:lvl1pPr>
          </a:lstStyle>
          <a:p>
            <a:pPr/>
            <a:r>
              <a:t>→ Aksiyon:</a:t>
            </a:r>
          </a:p>
        </p:txBody>
      </p:sp>
      <p:sp>
        <p:nvSpPr>
          <p:cNvPr id="167" name="Text 24"/>
          <p:cNvSpPr txBox="1"/>
          <p:nvPr/>
        </p:nvSpPr>
        <p:spPr>
          <a:xfrm>
            <a:off x="8183880" y="3517348"/>
            <a:ext cx="2743201" cy="326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374151"/>
                </a:solidFill>
              </a:defRPr>
            </a:lvl1pPr>
          </a:lstStyle>
          <a:p>
            <a:pPr/>
            <a:r>
              <a:t>Hafta sonu tarifelerini ayrı modelleyen strateji → %3 ek tasarruf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274320"/>
            <a:ext cx="502920" cy="502920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Text 0"/>
          <p:cNvSpPr txBox="1"/>
          <p:nvPr/>
        </p:nvSpPr>
        <p:spPr>
          <a:xfrm>
            <a:off x="1051560" y="354329"/>
            <a:ext cx="91440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Neden Bu Modele Güveniyoruz?</a:t>
            </a:r>
          </a:p>
        </p:txBody>
      </p:sp>
      <p:sp>
        <p:nvSpPr>
          <p:cNvPr id="171" name="Shape 1"/>
          <p:cNvSpPr/>
          <p:nvPr/>
        </p:nvSpPr>
        <p:spPr>
          <a:xfrm>
            <a:off x="457200" y="1051560"/>
            <a:ext cx="10515600" cy="21031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aphicFrame>
        <p:nvGraphicFramePr>
          <p:cNvPr id="172" name="Table 0"/>
          <p:cNvGraphicFramePr/>
          <p:nvPr/>
        </p:nvGraphicFramePr>
        <p:xfrm>
          <a:off x="640080" y="1188719"/>
          <a:ext cx="10149841" cy="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200400"/>
                <a:gridCol w="2286000"/>
                <a:gridCol w="2286000"/>
                <a:gridCol w="2377440"/>
              </a:tblGrid>
              <a:tr h="508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Model Yaklaşımı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Hata (MAE)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Doğruluk (R²)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Güvenilirlik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065A82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6A34A"/>
                          </a:solidFill>
                        </a:rPr>
                        <a:t>XGBoost (Şampiyon)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374151"/>
                          </a:solidFill>
                        </a:rPr>
                        <a:t>0.130 kW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374151"/>
                          </a:solidFill>
                        </a:rPr>
                        <a:t>%91.4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374151"/>
                          </a:solidFill>
                        </a:rPr>
                        <a:t>★★★★★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0FDF4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374151"/>
                          </a:solidFill>
                        </a:rPr>
                        <a:t>LightGBM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74151"/>
                          </a:solidFill>
                        </a:rPr>
                        <a:t>0.132 kW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74151"/>
                          </a:solidFill>
                        </a:rPr>
                        <a:t>%91.3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74151"/>
                          </a:solidFill>
                        </a:rPr>
                        <a:t>★★★★★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374151"/>
                          </a:solidFill>
                        </a:rPr>
                        <a:t>Prophet (İstatistiksel)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74151"/>
                          </a:solidFill>
                        </a:rPr>
                        <a:t>0.490 kW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74151"/>
                          </a:solidFill>
                        </a:rPr>
                        <a:t>%13.0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74151"/>
                          </a:solidFill>
                        </a:rPr>
                        <a:t>★★★☆☆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374151"/>
                          </a:solidFill>
                        </a:rPr>
                        <a:t>Basit Tahmin (Naive)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74151"/>
                          </a:solidFill>
                        </a:rPr>
                        <a:t>0.370 kW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74151"/>
                          </a:solidFill>
                        </a:rPr>
                        <a:t>%36.2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74151"/>
                          </a:solidFill>
                        </a:rPr>
                        <a:t>★★☆☆☆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5E7EB"/>
                      </a:solidFill>
                    </a:lnL>
                    <a:lnR w="6350">
                      <a:solidFill>
                        <a:srgbClr val="E5E7EB"/>
                      </a:solidFill>
                    </a:lnR>
                    <a:lnT w="6350">
                      <a:solidFill>
                        <a:srgbClr val="E5E7EB"/>
                      </a:solidFill>
                    </a:lnT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3" name="Text 2"/>
          <p:cNvSpPr txBox="1"/>
          <p:nvPr/>
        </p:nvSpPr>
        <p:spPr>
          <a:xfrm>
            <a:off x="457200" y="342264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Güven Faktörleri</a:t>
            </a:r>
          </a:p>
        </p:txBody>
      </p:sp>
      <p:sp>
        <p:nvSpPr>
          <p:cNvPr id="174" name="Shape 3"/>
          <p:cNvSpPr/>
          <p:nvPr/>
        </p:nvSpPr>
        <p:spPr>
          <a:xfrm>
            <a:off x="457200" y="3794759"/>
            <a:ext cx="3429000" cy="10972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5" name="Text 4"/>
          <p:cNvSpPr txBox="1"/>
          <p:nvPr/>
        </p:nvSpPr>
        <p:spPr>
          <a:xfrm>
            <a:off x="640080" y="3939978"/>
            <a:ext cx="306324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65A82"/>
                </a:solidFill>
              </a:defRPr>
            </a:lvl1pPr>
          </a:lstStyle>
          <a:p>
            <a:pPr/>
            <a:r>
              <a:t>İki Model Aynı Sonuç</a:t>
            </a:r>
          </a:p>
        </p:txBody>
      </p:sp>
      <p:sp>
        <p:nvSpPr>
          <p:cNvPr id="176" name="Text 5"/>
          <p:cNvSpPr txBox="1"/>
          <p:nvPr/>
        </p:nvSpPr>
        <p:spPr>
          <a:xfrm>
            <a:off x="640080" y="4308914"/>
            <a:ext cx="3063240" cy="343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4B5563"/>
                </a:solidFill>
              </a:defRPr>
            </a:lvl1pPr>
          </a:lstStyle>
          <a:p>
            <a:pPr/>
            <a:r>
              <a:t>İki farklı algoritma neredeyse aynı performans ve feature sıralaması (ρ=0.986). Sonuçlar rastlantısal değil.</a:t>
            </a:r>
          </a:p>
        </p:txBody>
      </p:sp>
      <p:sp>
        <p:nvSpPr>
          <p:cNvPr id="177" name="Shape 6"/>
          <p:cNvSpPr/>
          <p:nvPr/>
        </p:nvSpPr>
        <p:spPr>
          <a:xfrm>
            <a:off x="4160520" y="3794759"/>
            <a:ext cx="3429001" cy="10972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8" name="Text 7"/>
          <p:cNvSpPr txBox="1"/>
          <p:nvPr/>
        </p:nvSpPr>
        <p:spPr>
          <a:xfrm>
            <a:off x="4343400" y="3939978"/>
            <a:ext cx="306324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65A82"/>
                </a:solidFill>
              </a:defRPr>
            </a:lvl1pPr>
          </a:lstStyle>
          <a:p>
            <a:pPr/>
            <a:r>
              <a:t>İstatistiksel Doğrulama</a:t>
            </a:r>
          </a:p>
        </p:txBody>
      </p:sp>
      <p:sp>
        <p:nvSpPr>
          <p:cNvPr id="179" name="Text 8"/>
          <p:cNvSpPr txBox="1"/>
          <p:nvPr/>
        </p:nvSpPr>
        <p:spPr>
          <a:xfrm>
            <a:off x="4343400" y="4308914"/>
            <a:ext cx="3063240" cy="343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4B5563"/>
                </a:solidFill>
              </a:defRPr>
            </a:lvl1pPr>
          </a:lstStyle>
          <a:p>
            <a:pPr/>
            <a:r>
              <a:t>Diebold-Mariano testi ile model farkları kanıtlandı (p≈0). Her karar test edildi, ezbere değil.</a:t>
            </a:r>
          </a:p>
        </p:txBody>
      </p:sp>
      <p:sp>
        <p:nvSpPr>
          <p:cNvPr id="180" name="Shape 9"/>
          <p:cNvSpPr/>
          <p:nvPr/>
        </p:nvSpPr>
        <p:spPr>
          <a:xfrm>
            <a:off x="7863840" y="3794759"/>
            <a:ext cx="3429001" cy="10972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1" name="Text 10"/>
          <p:cNvSpPr txBox="1"/>
          <p:nvPr/>
        </p:nvSpPr>
        <p:spPr>
          <a:xfrm>
            <a:off x="8046719" y="3939978"/>
            <a:ext cx="306324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65A82"/>
                </a:solidFill>
              </a:defRPr>
            </a:lvl1pPr>
          </a:lstStyle>
          <a:p>
            <a:pPr/>
            <a:r>
              <a:t>Açıklanabilir Sonuçlar</a:t>
            </a:r>
          </a:p>
        </p:txBody>
      </p:sp>
      <p:sp>
        <p:nvSpPr>
          <p:cNvPr id="182" name="Text 11"/>
          <p:cNvSpPr txBox="1"/>
          <p:nvPr/>
        </p:nvSpPr>
        <p:spPr>
          <a:xfrm>
            <a:off x="8046719" y="4308914"/>
            <a:ext cx="3063241" cy="343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4B5563"/>
                </a:solidFill>
              </a:defRPr>
            </a:lvl1pPr>
          </a:lstStyle>
          <a:p>
            <a:pPr/>
            <a:r>
              <a:t>SHAP analizi ile her tahminin arkasındaki nedenler görülebilir. Kara kutu değil.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274320"/>
            <a:ext cx="502920" cy="502920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Text 0"/>
          <p:cNvSpPr txBox="1"/>
          <p:nvPr/>
        </p:nvSpPr>
        <p:spPr>
          <a:xfrm>
            <a:off x="1051560" y="335279"/>
            <a:ext cx="73152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Uygulama Yol Haritası</a:t>
            </a:r>
          </a:p>
        </p:txBody>
      </p:sp>
      <p:sp>
        <p:nvSpPr>
          <p:cNvPr id="186" name="Shape 1"/>
          <p:cNvSpPr/>
          <p:nvPr/>
        </p:nvSpPr>
        <p:spPr>
          <a:xfrm>
            <a:off x="274320" y="1051559"/>
            <a:ext cx="2606040" cy="3749042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" name="Shape 2"/>
          <p:cNvSpPr/>
          <p:nvPr/>
        </p:nvSpPr>
        <p:spPr>
          <a:xfrm>
            <a:off x="411480" y="1188719"/>
            <a:ext cx="914401" cy="320041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Text 3"/>
          <p:cNvSpPr txBox="1"/>
          <p:nvPr/>
        </p:nvSpPr>
        <p:spPr>
          <a:xfrm>
            <a:off x="411480" y="1280204"/>
            <a:ext cx="9144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Ay 1-2</a:t>
            </a:r>
          </a:p>
        </p:txBody>
      </p:sp>
      <p:sp>
        <p:nvSpPr>
          <p:cNvPr id="189" name="Text 4"/>
          <p:cNvSpPr txBox="1"/>
          <p:nvPr/>
        </p:nvSpPr>
        <p:spPr>
          <a:xfrm>
            <a:off x="457200" y="1685290"/>
            <a:ext cx="224028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Quick Win</a:t>
            </a:r>
          </a:p>
        </p:txBody>
      </p:sp>
      <p:sp>
        <p:nvSpPr>
          <p:cNvPr id="190" name="Text 5"/>
          <p:cNvSpPr txBox="1"/>
          <p:nvPr/>
        </p:nvSpPr>
        <p:spPr>
          <a:xfrm>
            <a:off x="457200" y="2718152"/>
            <a:ext cx="2240280" cy="598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50000"/>
              </a:lnSpc>
              <a:defRPr sz="1100">
                <a:solidFill>
                  <a:srgbClr val="4B5563"/>
                </a:solidFill>
              </a:defRPr>
            </a:pPr>
            <a:r>
              <a:t>Su ısıtıcı timer kurulumu</a:t>
            </a:r>
          </a:p>
          <a:p>
            <a:pPr>
              <a:lnSpc>
                <a:spcPct val="150000"/>
              </a:lnSpc>
              <a:defRPr sz="1100">
                <a:solidFill>
                  <a:srgbClr val="4B5563"/>
                </a:solidFill>
              </a:defRPr>
            </a:pPr>
            <a:r>
              <a:t>Bulaşık makinesi gece programı</a:t>
            </a:r>
          </a:p>
          <a:p>
            <a:pPr>
              <a:lnSpc>
                <a:spcPct val="150000"/>
              </a:lnSpc>
              <a:defRPr sz="1100">
                <a:solidFill>
                  <a:srgbClr val="4B5563"/>
                </a:solidFill>
              </a:defRPr>
            </a:pPr>
            <a:r>
              <a:t>Manuel yük kaydırma</a:t>
            </a:r>
          </a:p>
        </p:txBody>
      </p:sp>
      <p:sp>
        <p:nvSpPr>
          <p:cNvPr id="191" name="Shape 6"/>
          <p:cNvSpPr/>
          <p:nvPr/>
        </p:nvSpPr>
        <p:spPr>
          <a:xfrm>
            <a:off x="548640" y="4160520"/>
            <a:ext cx="2057401" cy="411481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Text 7"/>
          <p:cNvSpPr txBox="1"/>
          <p:nvPr/>
        </p:nvSpPr>
        <p:spPr>
          <a:xfrm>
            <a:off x="548640" y="4264660"/>
            <a:ext cx="20574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€180-240/yıl</a:t>
            </a:r>
          </a:p>
        </p:txBody>
      </p:sp>
      <p:sp>
        <p:nvSpPr>
          <p:cNvPr id="193" name="Shape 8"/>
          <p:cNvSpPr/>
          <p:nvPr/>
        </p:nvSpPr>
        <p:spPr>
          <a:xfrm>
            <a:off x="3108960" y="1051559"/>
            <a:ext cx="2606040" cy="3749042"/>
          </a:xfrm>
          <a:prstGeom prst="rect">
            <a:avLst/>
          </a:prstGeom>
          <a:solidFill>
            <a:srgbClr val="EFF6FF"/>
          </a:solidFill>
          <a:ln w="19050">
            <a:solidFill>
              <a:srgbClr val="065A82"/>
            </a:solidFill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4" name="Shape 9"/>
          <p:cNvSpPr/>
          <p:nvPr/>
        </p:nvSpPr>
        <p:spPr>
          <a:xfrm>
            <a:off x="3246120" y="1188719"/>
            <a:ext cx="914401" cy="320041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Text 10"/>
          <p:cNvSpPr txBox="1"/>
          <p:nvPr/>
        </p:nvSpPr>
        <p:spPr>
          <a:xfrm>
            <a:off x="3246120" y="1280204"/>
            <a:ext cx="9144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Ay 3-4</a:t>
            </a:r>
          </a:p>
        </p:txBody>
      </p:sp>
      <p:sp>
        <p:nvSpPr>
          <p:cNvPr id="196" name="Text 11"/>
          <p:cNvSpPr txBox="1"/>
          <p:nvPr/>
        </p:nvSpPr>
        <p:spPr>
          <a:xfrm>
            <a:off x="3291840" y="1685290"/>
            <a:ext cx="22402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Otomasyon</a:t>
            </a:r>
          </a:p>
        </p:txBody>
      </p:sp>
      <p:sp>
        <p:nvSpPr>
          <p:cNvPr id="197" name="Text 12"/>
          <p:cNvSpPr txBox="1"/>
          <p:nvPr/>
        </p:nvSpPr>
        <p:spPr>
          <a:xfrm>
            <a:off x="3291840" y="2718152"/>
            <a:ext cx="2240281" cy="598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50000"/>
              </a:lnSpc>
              <a:defRPr sz="1100">
                <a:solidFill>
                  <a:srgbClr val="4B5563"/>
                </a:solidFill>
              </a:defRPr>
            </a:pPr>
            <a:r>
              <a:t>Akıllı priz entegrasyonu</a:t>
            </a:r>
          </a:p>
          <a:p>
            <a:pPr>
              <a:lnSpc>
                <a:spcPct val="150000"/>
              </a:lnSpc>
              <a:defRPr sz="1100">
                <a:solidFill>
                  <a:srgbClr val="4B5563"/>
                </a:solidFill>
              </a:defRPr>
            </a:pPr>
            <a:r>
              <a:t>Tahmin bazlı programlama</a:t>
            </a:r>
          </a:p>
          <a:p>
            <a:pPr>
              <a:lnSpc>
                <a:spcPct val="150000"/>
              </a:lnSpc>
              <a:defRPr sz="1100">
                <a:solidFill>
                  <a:srgbClr val="4B5563"/>
                </a:solidFill>
              </a:defRPr>
            </a:pPr>
            <a:r>
              <a:t>Anomali alarm sistemi</a:t>
            </a:r>
          </a:p>
        </p:txBody>
      </p:sp>
      <p:sp>
        <p:nvSpPr>
          <p:cNvPr id="198" name="Shape 13"/>
          <p:cNvSpPr/>
          <p:nvPr/>
        </p:nvSpPr>
        <p:spPr>
          <a:xfrm>
            <a:off x="3383279" y="4160520"/>
            <a:ext cx="2057401" cy="411481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Text 14"/>
          <p:cNvSpPr txBox="1"/>
          <p:nvPr/>
        </p:nvSpPr>
        <p:spPr>
          <a:xfrm>
            <a:off x="3383279" y="4264660"/>
            <a:ext cx="20574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€270-380/yıl</a:t>
            </a:r>
          </a:p>
        </p:txBody>
      </p:sp>
      <p:sp>
        <p:nvSpPr>
          <p:cNvPr id="200" name="Shape 15"/>
          <p:cNvSpPr/>
          <p:nvPr/>
        </p:nvSpPr>
        <p:spPr>
          <a:xfrm>
            <a:off x="5943600" y="1051559"/>
            <a:ext cx="2606040" cy="3749042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" name="Shape 16"/>
          <p:cNvSpPr/>
          <p:nvPr/>
        </p:nvSpPr>
        <p:spPr>
          <a:xfrm>
            <a:off x="6080759" y="1188719"/>
            <a:ext cx="914401" cy="320041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Text 17"/>
          <p:cNvSpPr txBox="1"/>
          <p:nvPr/>
        </p:nvSpPr>
        <p:spPr>
          <a:xfrm>
            <a:off x="6080759" y="1280204"/>
            <a:ext cx="9144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Ay 5-6</a:t>
            </a:r>
          </a:p>
        </p:txBody>
      </p:sp>
      <p:sp>
        <p:nvSpPr>
          <p:cNvPr id="203" name="Text 18"/>
          <p:cNvSpPr txBox="1"/>
          <p:nvPr/>
        </p:nvSpPr>
        <p:spPr>
          <a:xfrm>
            <a:off x="6126479" y="1685290"/>
            <a:ext cx="22402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Optimizasyon</a:t>
            </a:r>
          </a:p>
        </p:txBody>
      </p:sp>
      <p:sp>
        <p:nvSpPr>
          <p:cNvPr id="204" name="Text 19"/>
          <p:cNvSpPr txBox="1"/>
          <p:nvPr/>
        </p:nvSpPr>
        <p:spPr>
          <a:xfrm>
            <a:off x="6126479" y="2718152"/>
            <a:ext cx="2240281" cy="598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50000"/>
              </a:lnSpc>
              <a:defRPr sz="1100">
                <a:solidFill>
                  <a:srgbClr val="4B5563"/>
                </a:solidFill>
              </a:defRPr>
            </a:pPr>
            <a:r>
              <a:t>Dinamik tarife stratejisi</a:t>
            </a:r>
          </a:p>
          <a:p>
            <a:pPr>
              <a:lnSpc>
                <a:spcPct val="150000"/>
              </a:lnSpc>
              <a:defRPr sz="1100">
                <a:solidFill>
                  <a:srgbClr val="4B5563"/>
                </a:solidFill>
              </a:defRPr>
            </a:pPr>
            <a:r>
              <a:t>Enerji depolama değerlendirme</a:t>
            </a:r>
          </a:p>
          <a:p>
            <a:pPr>
              <a:lnSpc>
                <a:spcPct val="150000"/>
              </a:lnSpc>
              <a:defRPr sz="1100">
                <a:solidFill>
                  <a:srgbClr val="4B5563"/>
                </a:solidFill>
              </a:defRPr>
            </a:pPr>
            <a:r>
              <a:t>Güneş paneli ROI analizi</a:t>
            </a:r>
          </a:p>
        </p:txBody>
      </p:sp>
      <p:sp>
        <p:nvSpPr>
          <p:cNvPr id="205" name="Shape 20"/>
          <p:cNvSpPr/>
          <p:nvPr/>
        </p:nvSpPr>
        <p:spPr>
          <a:xfrm>
            <a:off x="6217920" y="4160520"/>
            <a:ext cx="2057401" cy="411481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Text 21"/>
          <p:cNvSpPr txBox="1"/>
          <p:nvPr/>
        </p:nvSpPr>
        <p:spPr>
          <a:xfrm>
            <a:off x="6217920" y="4264660"/>
            <a:ext cx="20574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€550-920/yıl</a:t>
            </a:r>
          </a:p>
        </p:txBody>
      </p:sp>
      <p:sp>
        <p:nvSpPr>
          <p:cNvPr id="207" name="Shape 22"/>
          <p:cNvSpPr/>
          <p:nvPr/>
        </p:nvSpPr>
        <p:spPr>
          <a:xfrm>
            <a:off x="8778240" y="1051559"/>
            <a:ext cx="2606041" cy="3749042"/>
          </a:xfrm>
          <a:prstGeom prst="rect">
            <a:avLst/>
          </a:prstGeom>
          <a:solidFill>
            <a:srgbClr val="FDF2F8"/>
          </a:solidFill>
          <a:ln w="19050">
            <a:solidFill>
              <a:srgbClr val="A855F7"/>
            </a:solidFill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" name="Shape 23"/>
          <p:cNvSpPr/>
          <p:nvPr/>
        </p:nvSpPr>
        <p:spPr>
          <a:xfrm>
            <a:off x="8915400" y="1188719"/>
            <a:ext cx="914400" cy="320041"/>
          </a:xfrm>
          <a:prstGeom prst="rect">
            <a:avLst/>
          </a:prstGeom>
          <a:solidFill>
            <a:srgbClr val="A855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Text 24"/>
          <p:cNvSpPr txBox="1"/>
          <p:nvPr/>
        </p:nvSpPr>
        <p:spPr>
          <a:xfrm>
            <a:off x="8915400" y="1280204"/>
            <a:ext cx="9144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Ay 6+</a:t>
            </a:r>
          </a:p>
        </p:txBody>
      </p:sp>
      <p:sp>
        <p:nvSpPr>
          <p:cNvPr id="210" name="Text 25"/>
          <p:cNvSpPr txBox="1"/>
          <p:nvPr/>
        </p:nvSpPr>
        <p:spPr>
          <a:xfrm>
            <a:off x="8961119" y="1685290"/>
            <a:ext cx="22402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Scale</a:t>
            </a:r>
          </a:p>
        </p:txBody>
      </p:sp>
      <p:sp>
        <p:nvSpPr>
          <p:cNvPr id="211" name="Text 26"/>
          <p:cNvSpPr txBox="1"/>
          <p:nvPr/>
        </p:nvSpPr>
        <p:spPr>
          <a:xfrm>
            <a:off x="8961119" y="2602035"/>
            <a:ext cx="2240281" cy="830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50000"/>
              </a:lnSpc>
              <a:defRPr sz="1100">
                <a:solidFill>
                  <a:srgbClr val="4B5563"/>
                </a:solidFill>
              </a:defRPr>
            </a:pPr>
            <a:r>
              <a:t>Çoklu hane / bina ölçeği</a:t>
            </a:r>
          </a:p>
          <a:p>
            <a:pPr>
              <a:lnSpc>
                <a:spcPct val="150000"/>
              </a:lnSpc>
              <a:defRPr sz="1100">
                <a:solidFill>
                  <a:srgbClr val="4B5563"/>
                </a:solidFill>
              </a:defRPr>
            </a:pPr>
            <a:r>
              <a:t>Real-time dashboard</a:t>
            </a:r>
          </a:p>
          <a:p>
            <a:pPr>
              <a:lnSpc>
                <a:spcPct val="150000"/>
              </a:lnSpc>
              <a:defRPr sz="1100">
                <a:solidFill>
                  <a:srgbClr val="4B5563"/>
                </a:solidFill>
              </a:defRPr>
            </a:pPr>
            <a:r>
              <a:t>Transfer learning ile</a:t>
            </a:r>
          </a:p>
          <a:p>
            <a:pPr>
              <a:lnSpc>
                <a:spcPct val="150000"/>
              </a:lnSpc>
              <a:defRPr sz="1100">
                <a:solidFill>
                  <a:srgbClr val="4B5563"/>
                </a:solidFill>
              </a:defRPr>
            </a:pPr>
            <a:r>
              <a:t>yeni lokasyonlar</a:t>
            </a:r>
          </a:p>
        </p:txBody>
      </p:sp>
      <p:sp>
        <p:nvSpPr>
          <p:cNvPr id="212" name="Shape 27"/>
          <p:cNvSpPr/>
          <p:nvPr/>
        </p:nvSpPr>
        <p:spPr>
          <a:xfrm>
            <a:off x="9052559" y="4160520"/>
            <a:ext cx="2057401" cy="411481"/>
          </a:xfrm>
          <a:prstGeom prst="rect">
            <a:avLst/>
          </a:prstGeom>
          <a:solidFill>
            <a:srgbClr val="0B254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Text 28"/>
          <p:cNvSpPr txBox="1"/>
          <p:nvPr/>
        </p:nvSpPr>
        <p:spPr>
          <a:xfrm>
            <a:off x="9052559" y="4264660"/>
            <a:ext cx="20574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10×+</a:t>
            </a:r>
          </a:p>
        </p:txBody>
      </p:sp>
      <p:sp>
        <p:nvSpPr>
          <p:cNvPr id="214" name="Text 29"/>
          <p:cNvSpPr txBox="1"/>
          <p:nvPr/>
        </p:nvSpPr>
        <p:spPr>
          <a:xfrm>
            <a:off x="2880360" y="2592685"/>
            <a:ext cx="274321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400">
                <a:solidFill>
                  <a:srgbClr val="94A3B8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5" name="Text 30"/>
          <p:cNvSpPr txBox="1"/>
          <p:nvPr/>
        </p:nvSpPr>
        <p:spPr>
          <a:xfrm>
            <a:off x="5715000" y="2592685"/>
            <a:ext cx="274321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400">
                <a:solidFill>
                  <a:srgbClr val="94A3B8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6" name="Text 31"/>
          <p:cNvSpPr txBox="1"/>
          <p:nvPr/>
        </p:nvSpPr>
        <p:spPr>
          <a:xfrm>
            <a:off x="8549640" y="2592685"/>
            <a:ext cx="274321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400">
                <a:solidFill>
                  <a:srgbClr val="94A3B8"/>
                </a:solidFill>
              </a:defRPr>
            </a:lvl1pPr>
          </a:lstStyle>
          <a:p>
            <a:pPr/>
            <a:r>
              <a:t>→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0"/>
          <p:cNvSpPr/>
          <p:nvPr/>
        </p:nvSpPr>
        <p:spPr>
          <a:xfrm>
            <a:off x="-1" y="0"/>
            <a:ext cx="73154" cy="5148072"/>
          </a:xfrm>
          <a:prstGeom prst="rect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Text 1"/>
          <p:cNvSpPr txBox="1"/>
          <p:nvPr/>
        </p:nvSpPr>
        <p:spPr>
          <a:xfrm>
            <a:off x="457200" y="322579"/>
            <a:ext cx="731520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Sonuç &amp; Öneriler</a:t>
            </a:r>
          </a:p>
        </p:txBody>
      </p:sp>
      <p:sp>
        <p:nvSpPr>
          <p:cNvPr id="220" name="Shape 2"/>
          <p:cNvSpPr/>
          <p:nvPr/>
        </p:nvSpPr>
        <p:spPr>
          <a:xfrm>
            <a:off x="457200" y="1005839"/>
            <a:ext cx="5029200" cy="3995930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1" name="Text 3"/>
          <p:cNvSpPr txBox="1"/>
          <p:nvPr/>
        </p:nvSpPr>
        <p:spPr>
          <a:xfrm>
            <a:off x="731519" y="1182369"/>
            <a:ext cx="45720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Proje Sonuç Kartı</a:t>
            </a:r>
          </a:p>
        </p:txBody>
      </p:sp>
      <p:sp>
        <p:nvSpPr>
          <p:cNvPr id="222" name="Text 4"/>
          <p:cNvSpPr txBox="1"/>
          <p:nvPr/>
        </p:nvSpPr>
        <p:spPr>
          <a:xfrm>
            <a:off x="731519" y="1715946"/>
            <a:ext cx="201168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Tahmin Doğruluğu</a:t>
            </a:r>
          </a:p>
        </p:txBody>
      </p:sp>
      <p:sp>
        <p:nvSpPr>
          <p:cNvPr id="223" name="Text 5"/>
          <p:cNvSpPr txBox="1"/>
          <p:nvPr/>
        </p:nvSpPr>
        <p:spPr>
          <a:xfrm>
            <a:off x="2834639" y="1704647"/>
            <a:ext cx="256032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R² = 0.914 (%91 açıklama)</a:t>
            </a:r>
          </a:p>
        </p:txBody>
      </p:sp>
      <p:sp>
        <p:nvSpPr>
          <p:cNvPr id="224" name="Shape 6"/>
          <p:cNvSpPr/>
          <p:nvPr/>
        </p:nvSpPr>
        <p:spPr>
          <a:xfrm>
            <a:off x="731520" y="1991614"/>
            <a:ext cx="4480560" cy="12701"/>
          </a:xfrm>
          <a:prstGeom prst="rect">
            <a:avLst/>
          </a:prstGeom>
          <a:solidFill>
            <a:srgbClr val="1E3A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Text 7"/>
          <p:cNvSpPr txBox="1"/>
          <p:nvPr/>
        </p:nvSpPr>
        <p:spPr>
          <a:xfrm>
            <a:off x="731519" y="2218866"/>
            <a:ext cx="20116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Hata İyileştirme</a:t>
            </a:r>
          </a:p>
        </p:txBody>
      </p:sp>
      <p:sp>
        <p:nvSpPr>
          <p:cNvPr id="226" name="Text 8"/>
          <p:cNvSpPr txBox="1"/>
          <p:nvPr/>
        </p:nvSpPr>
        <p:spPr>
          <a:xfrm>
            <a:off x="2834639" y="2207567"/>
            <a:ext cx="256032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%65 azalma (Naive'e göre)</a:t>
            </a:r>
          </a:p>
        </p:txBody>
      </p:sp>
      <p:sp>
        <p:nvSpPr>
          <p:cNvPr id="227" name="Shape 9"/>
          <p:cNvSpPr/>
          <p:nvPr/>
        </p:nvSpPr>
        <p:spPr>
          <a:xfrm>
            <a:off x="731520" y="2494533"/>
            <a:ext cx="4480560" cy="12701"/>
          </a:xfrm>
          <a:prstGeom prst="rect">
            <a:avLst/>
          </a:prstGeom>
          <a:solidFill>
            <a:srgbClr val="1E3A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Text 10"/>
          <p:cNvSpPr txBox="1"/>
          <p:nvPr/>
        </p:nvSpPr>
        <p:spPr>
          <a:xfrm>
            <a:off x="731519" y="2721786"/>
            <a:ext cx="20116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Yıllık Tasarruf Potansiyeli</a:t>
            </a:r>
          </a:p>
        </p:txBody>
      </p:sp>
      <p:sp>
        <p:nvSpPr>
          <p:cNvPr id="229" name="Text 11"/>
          <p:cNvSpPr txBox="1"/>
          <p:nvPr/>
        </p:nvSpPr>
        <p:spPr>
          <a:xfrm>
            <a:off x="2834639" y="2710487"/>
            <a:ext cx="256032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€550 – €920 (%8-12)</a:t>
            </a:r>
          </a:p>
        </p:txBody>
      </p:sp>
      <p:sp>
        <p:nvSpPr>
          <p:cNvPr id="230" name="Shape 12"/>
          <p:cNvSpPr/>
          <p:nvPr/>
        </p:nvSpPr>
        <p:spPr>
          <a:xfrm>
            <a:off x="731520" y="2997454"/>
            <a:ext cx="4480560" cy="12701"/>
          </a:xfrm>
          <a:prstGeom prst="rect">
            <a:avLst/>
          </a:prstGeom>
          <a:solidFill>
            <a:srgbClr val="1E3A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1" name="Text 13"/>
          <p:cNvSpPr txBox="1"/>
          <p:nvPr/>
        </p:nvSpPr>
        <p:spPr>
          <a:xfrm>
            <a:off x="731519" y="3224705"/>
            <a:ext cx="201168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Uygulama Başlangıcı</a:t>
            </a:r>
          </a:p>
        </p:txBody>
      </p:sp>
      <p:sp>
        <p:nvSpPr>
          <p:cNvPr id="232" name="Text 14"/>
          <p:cNvSpPr txBox="1"/>
          <p:nvPr/>
        </p:nvSpPr>
        <p:spPr>
          <a:xfrm>
            <a:off x="2834639" y="3213407"/>
            <a:ext cx="256032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Quick Win — hemen başlanabilir</a:t>
            </a:r>
          </a:p>
        </p:txBody>
      </p:sp>
      <p:sp>
        <p:nvSpPr>
          <p:cNvPr id="233" name="Shape 15"/>
          <p:cNvSpPr/>
          <p:nvPr/>
        </p:nvSpPr>
        <p:spPr>
          <a:xfrm>
            <a:off x="731520" y="3500373"/>
            <a:ext cx="4480560" cy="12701"/>
          </a:xfrm>
          <a:prstGeom prst="rect">
            <a:avLst/>
          </a:prstGeom>
          <a:solidFill>
            <a:srgbClr val="1E3A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Text 16"/>
          <p:cNvSpPr txBox="1"/>
          <p:nvPr/>
        </p:nvSpPr>
        <p:spPr>
          <a:xfrm>
            <a:off x="731519" y="3727625"/>
            <a:ext cx="201168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Ölçeklenebilirlik</a:t>
            </a:r>
          </a:p>
        </p:txBody>
      </p:sp>
      <p:sp>
        <p:nvSpPr>
          <p:cNvPr id="235" name="Text 17"/>
          <p:cNvSpPr txBox="1"/>
          <p:nvPr/>
        </p:nvSpPr>
        <p:spPr>
          <a:xfrm>
            <a:off x="2834639" y="3716327"/>
            <a:ext cx="256032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Çoklu hane/bina'ya transfer edilebilir</a:t>
            </a:r>
          </a:p>
        </p:txBody>
      </p:sp>
      <p:sp>
        <p:nvSpPr>
          <p:cNvPr id="236" name="Shape 18"/>
          <p:cNvSpPr/>
          <p:nvPr/>
        </p:nvSpPr>
        <p:spPr>
          <a:xfrm>
            <a:off x="731520" y="4003293"/>
            <a:ext cx="4480560" cy="12701"/>
          </a:xfrm>
          <a:prstGeom prst="rect">
            <a:avLst/>
          </a:prstGeom>
          <a:solidFill>
            <a:srgbClr val="1E3A5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Text 19"/>
          <p:cNvSpPr txBox="1"/>
          <p:nvPr/>
        </p:nvSpPr>
        <p:spPr>
          <a:xfrm>
            <a:off x="731519" y="4230546"/>
            <a:ext cx="20116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Güvenilirlik</a:t>
            </a:r>
          </a:p>
        </p:txBody>
      </p:sp>
      <p:sp>
        <p:nvSpPr>
          <p:cNvPr id="238" name="Text 20"/>
          <p:cNvSpPr txBox="1"/>
          <p:nvPr/>
        </p:nvSpPr>
        <p:spPr>
          <a:xfrm>
            <a:off x="2834639" y="4219247"/>
            <a:ext cx="256032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2 model + istatistiksel doğrulama</a:t>
            </a:r>
          </a:p>
        </p:txBody>
      </p:sp>
      <p:sp>
        <p:nvSpPr>
          <p:cNvPr id="239" name="Shape 21"/>
          <p:cNvSpPr/>
          <p:nvPr/>
        </p:nvSpPr>
        <p:spPr>
          <a:xfrm>
            <a:off x="5852159" y="1005839"/>
            <a:ext cx="5486401" cy="3995930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0" name="Text 22"/>
          <p:cNvSpPr txBox="1"/>
          <p:nvPr/>
        </p:nvSpPr>
        <p:spPr>
          <a:xfrm>
            <a:off x="6126479" y="1182369"/>
            <a:ext cx="493776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Karar Beklenen Adımlar</a:t>
            </a:r>
          </a:p>
        </p:txBody>
      </p:sp>
      <p:sp>
        <p:nvSpPr>
          <p:cNvPr id="241" name="Shape 23"/>
          <p:cNvSpPr/>
          <p:nvPr/>
        </p:nvSpPr>
        <p:spPr>
          <a:xfrm>
            <a:off x="6126479" y="1645920"/>
            <a:ext cx="320041" cy="320041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Text 24"/>
          <p:cNvSpPr txBox="1"/>
          <p:nvPr/>
        </p:nvSpPr>
        <p:spPr>
          <a:xfrm>
            <a:off x="6126479" y="1704340"/>
            <a:ext cx="32004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43" name="Text 25"/>
          <p:cNvSpPr txBox="1"/>
          <p:nvPr/>
        </p:nvSpPr>
        <p:spPr>
          <a:xfrm>
            <a:off x="6583680" y="1699699"/>
            <a:ext cx="45720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Hemen: Quick Win Uygula</a:t>
            </a:r>
          </a:p>
        </p:txBody>
      </p:sp>
      <p:sp>
        <p:nvSpPr>
          <p:cNvPr id="244" name="Text 26"/>
          <p:cNvSpPr txBox="1"/>
          <p:nvPr/>
        </p:nvSpPr>
        <p:spPr>
          <a:xfrm>
            <a:off x="6583680" y="1961187"/>
            <a:ext cx="4572001" cy="329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94A3B8"/>
                </a:solidFill>
              </a:defRPr>
            </a:pPr>
            <a:r>
              <a:t>Su ısıtıcı timer + bulaşık makinesi gece programı.</a:t>
            </a:r>
          </a:p>
          <a:p>
            <a:pPr>
              <a:lnSpc>
                <a:spcPct val="120000"/>
              </a:lnSpc>
              <a:defRPr sz="1000">
                <a:solidFill>
                  <a:srgbClr val="94A3B8"/>
                </a:solidFill>
              </a:defRPr>
            </a:pPr>
            <a:r>
              <a:t>Maliyet: €0. Beklenen tasarruf: €180-240/yıl.</a:t>
            </a:r>
          </a:p>
        </p:txBody>
      </p:sp>
      <p:sp>
        <p:nvSpPr>
          <p:cNvPr id="245" name="Shape 27"/>
          <p:cNvSpPr/>
          <p:nvPr/>
        </p:nvSpPr>
        <p:spPr>
          <a:xfrm>
            <a:off x="6126479" y="2423160"/>
            <a:ext cx="320041" cy="320041"/>
          </a:xfrm>
          <a:prstGeom prst="rect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Text 28"/>
          <p:cNvSpPr txBox="1"/>
          <p:nvPr/>
        </p:nvSpPr>
        <p:spPr>
          <a:xfrm>
            <a:off x="6126479" y="2481580"/>
            <a:ext cx="32004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47" name="Text 29"/>
          <p:cNvSpPr txBox="1"/>
          <p:nvPr/>
        </p:nvSpPr>
        <p:spPr>
          <a:xfrm>
            <a:off x="6583680" y="2476939"/>
            <a:ext cx="45720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1 Ay: Akıllı Priz Pilot</a:t>
            </a:r>
          </a:p>
        </p:txBody>
      </p:sp>
      <p:sp>
        <p:nvSpPr>
          <p:cNvPr id="248" name="Text 30"/>
          <p:cNvSpPr txBox="1"/>
          <p:nvPr/>
        </p:nvSpPr>
        <p:spPr>
          <a:xfrm>
            <a:off x="6583680" y="2738427"/>
            <a:ext cx="4572001" cy="329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94A3B8"/>
                </a:solidFill>
              </a:defRPr>
            </a:pPr>
            <a:r>
              <a:t>2-3 akıllı priz ile tahmin bazlı otomasyon testi.</a:t>
            </a:r>
          </a:p>
          <a:p>
            <a:pPr>
              <a:lnSpc>
                <a:spcPct val="120000"/>
              </a:lnSpc>
              <a:defRPr sz="1000">
                <a:solidFill>
                  <a:srgbClr val="94A3B8"/>
                </a:solidFill>
              </a:defRPr>
            </a:pPr>
            <a:r>
              <a:t>Yatırım: ~€150. ROI: 4-6 ay.</a:t>
            </a:r>
          </a:p>
        </p:txBody>
      </p:sp>
      <p:sp>
        <p:nvSpPr>
          <p:cNvPr id="249" name="Shape 31"/>
          <p:cNvSpPr/>
          <p:nvPr/>
        </p:nvSpPr>
        <p:spPr>
          <a:xfrm>
            <a:off x="6126479" y="3200400"/>
            <a:ext cx="320041" cy="320041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0" name="Text 32"/>
          <p:cNvSpPr txBox="1"/>
          <p:nvPr/>
        </p:nvSpPr>
        <p:spPr>
          <a:xfrm>
            <a:off x="6126479" y="3258820"/>
            <a:ext cx="32004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51" name="Text 33"/>
          <p:cNvSpPr txBox="1"/>
          <p:nvPr/>
        </p:nvSpPr>
        <p:spPr>
          <a:xfrm>
            <a:off x="6583680" y="3254178"/>
            <a:ext cx="45720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3 Ay: Dashboard &amp; Monitoring</a:t>
            </a:r>
          </a:p>
        </p:txBody>
      </p:sp>
      <p:sp>
        <p:nvSpPr>
          <p:cNvPr id="252" name="Text 34"/>
          <p:cNvSpPr txBox="1"/>
          <p:nvPr/>
        </p:nvSpPr>
        <p:spPr>
          <a:xfrm>
            <a:off x="6583680" y="3524372"/>
            <a:ext cx="4572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94A3B8"/>
                </a:solidFill>
              </a:defRPr>
            </a:lvl1pPr>
          </a:lstStyle>
          <a:p>
            <a:pPr/>
            <a:r>
              <a:t>Real-time tüketim takibi + anomali alarmları.</a:t>
            </a:r>
          </a:p>
        </p:txBody>
      </p:sp>
      <p:sp>
        <p:nvSpPr>
          <p:cNvPr id="253" name="Shape 35"/>
          <p:cNvSpPr/>
          <p:nvPr/>
        </p:nvSpPr>
        <p:spPr>
          <a:xfrm>
            <a:off x="6126479" y="3977640"/>
            <a:ext cx="320041" cy="320041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4" name="Text 36"/>
          <p:cNvSpPr txBox="1"/>
          <p:nvPr/>
        </p:nvSpPr>
        <p:spPr>
          <a:xfrm>
            <a:off x="6126479" y="4036060"/>
            <a:ext cx="32004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55" name="Text 37"/>
          <p:cNvSpPr txBox="1"/>
          <p:nvPr/>
        </p:nvSpPr>
        <p:spPr>
          <a:xfrm>
            <a:off x="6583680" y="4031419"/>
            <a:ext cx="45720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6 Ay: Ölçeklendirme Kararı</a:t>
            </a:r>
          </a:p>
        </p:txBody>
      </p:sp>
      <p:sp>
        <p:nvSpPr>
          <p:cNvPr id="256" name="Text 38"/>
          <p:cNvSpPr txBox="1"/>
          <p:nvPr/>
        </p:nvSpPr>
        <p:spPr>
          <a:xfrm>
            <a:off x="6583680" y="4292907"/>
            <a:ext cx="4572001" cy="329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94A3B8"/>
                </a:solidFill>
              </a:defRPr>
            </a:pPr>
            <a:r>
              <a:t>Pilot sonuçlarına göre çoklu hane/bina planı.</a:t>
            </a:r>
          </a:p>
          <a:p>
            <a:pPr>
              <a:lnSpc>
                <a:spcPct val="120000"/>
              </a:lnSpc>
              <a:defRPr sz="1000">
                <a:solidFill>
                  <a:srgbClr val="94A3B8"/>
                </a:solidFill>
              </a:defRPr>
            </a:pPr>
            <a:r>
              <a:t>Transfer learning ile yeni lokasyonlar.</a:t>
            </a:r>
          </a:p>
        </p:txBody>
      </p:sp>
      <p:sp>
        <p:nvSpPr>
          <p:cNvPr id="257" name="Text 39"/>
          <p:cNvSpPr txBox="1"/>
          <p:nvPr/>
        </p:nvSpPr>
        <p:spPr>
          <a:xfrm>
            <a:off x="457200" y="4805679"/>
            <a:ext cx="5486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Kaggle: kaggle.com/datasets/uciml/electric-power-consumption-data-set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