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kaggle.com/datasets/thedevastator/lexglue-legal-nlp-benchmark-dataset" TargetMode="Externa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73154" cy="5143500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822960"/>
            <a:ext cx="640081" cy="640081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Text 1"/>
          <p:cNvSpPr txBox="1"/>
          <p:nvPr/>
        </p:nvSpPr>
        <p:spPr>
          <a:xfrm>
            <a:off x="640080" y="1623060"/>
            <a:ext cx="5943601" cy="1508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b="1" sz="3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Hukuki Belgelerin Yerel LLM</a:t>
            </a:r>
          </a:p>
          <a:p>
            <a:pPr>
              <a:lnSpc>
                <a:spcPct val="115000"/>
              </a:lnSpc>
              <a:defRPr b="1" sz="3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ile Akıllı Sorgulanması</a:t>
            </a:r>
          </a:p>
        </p:txBody>
      </p:sp>
      <p:sp>
        <p:nvSpPr>
          <p:cNvPr id="23" name="Text 2"/>
          <p:cNvSpPr txBox="1"/>
          <p:nvPr/>
        </p:nvSpPr>
        <p:spPr>
          <a:xfrm>
            <a:off x="640080" y="3458430"/>
            <a:ext cx="5943601" cy="489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sz="1500">
                <a:solidFill>
                  <a:srgbClr val="CADCFC"/>
                </a:solidFill>
              </a:defRPr>
            </a:pPr>
            <a:r>
              <a:t>236K+ hukuki belgeyi 3 farklı RAG mimarisi ile sorgulanabilir hale getiriyoruz.</a:t>
            </a:r>
          </a:p>
          <a:p>
            <a:pPr>
              <a:lnSpc>
                <a:spcPct val="140000"/>
              </a:lnSpc>
              <a:defRPr sz="1500">
                <a:solidFill>
                  <a:srgbClr val="CADCFC"/>
                </a:solidFill>
              </a:defRPr>
            </a:pPr>
            <a:r>
              <a:t> “model seçiminden retrieval stratejisine her karar veriye dayalı.”</a:t>
            </a:r>
          </a:p>
        </p:txBody>
      </p:sp>
      <p:sp>
        <p:nvSpPr>
          <p:cNvPr id="24" name="Shape 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Text 4"/>
          <p:cNvSpPr txBox="1"/>
          <p:nvPr/>
        </p:nvSpPr>
        <p:spPr>
          <a:xfrm>
            <a:off x="640080" y="4777784"/>
            <a:ext cx="4572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/>
            <a:r>
              <a:t>LexGLUE Legal RAG System  |  Kaggle Dataset  |  2025</a:t>
            </a:r>
          </a:p>
        </p:txBody>
      </p:sp>
      <p:sp>
        <p:nvSpPr>
          <p:cNvPr id="26" name="Shape 5"/>
          <p:cNvSpPr/>
          <p:nvPr/>
        </p:nvSpPr>
        <p:spPr>
          <a:xfrm>
            <a:off x="6858000" y="640080"/>
            <a:ext cx="2011679" cy="1005840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" name="Text 6"/>
          <p:cNvSpPr txBox="1"/>
          <p:nvPr/>
        </p:nvSpPr>
        <p:spPr>
          <a:xfrm>
            <a:off x="6858000" y="814114"/>
            <a:ext cx="2011679" cy="657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3600">
                <a:solidFill>
                  <a:srgbClr val="E94560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7</a:t>
            </a:r>
          </a:p>
          <a:p>
            <a:pPr algn="ctr">
              <a:defRPr sz="1000">
                <a:solidFill>
                  <a:srgbClr val="CADCFC"/>
                </a:solidFill>
              </a:defRPr>
            </a:pPr>
            <a:r>
              <a:t>Hukuki Dataset</a:t>
            </a:r>
          </a:p>
        </p:txBody>
      </p:sp>
      <p:sp>
        <p:nvSpPr>
          <p:cNvPr id="28" name="Shape 7"/>
          <p:cNvSpPr/>
          <p:nvPr/>
        </p:nvSpPr>
        <p:spPr>
          <a:xfrm>
            <a:off x="6858000" y="1828800"/>
            <a:ext cx="2011679" cy="1005839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" name="Text 8"/>
          <p:cNvSpPr txBox="1"/>
          <p:nvPr/>
        </p:nvSpPr>
        <p:spPr>
          <a:xfrm>
            <a:off x="6858000" y="2002834"/>
            <a:ext cx="2011679" cy="657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3600">
                <a:solidFill>
                  <a:srgbClr val="E94560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3</a:t>
            </a:r>
          </a:p>
          <a:p>
            <a:pPr algn="ctr">
              <a:defRPr sz="1000">
                <a:solidFill>
                  <a:srgbClr val="CADCFC"/>
                </a:solidFill>
              </a:defRPr>
            </a:pPr>
            <a:r>
              <a:t>RAG Mimarisi</a:t>
            </a:r>
          </a:p>
        </p:txBody>
      </p:sp>
      <p:sp>
        <p:nvSpPr>
          <p:cNvPr id="30" name="Shape 9"/>
          <p:cNvSpPr/>
          <p:nvPr/>
        </p:nvSpPr>
        <p:spPr>
          <a:xfrm>
            <a:off x="6858000" y="3017520"/>
            <a:ext cx="2011679" cy="1005840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" name="Text 10"/>
          <p:cNvSpPr txBox="1"/>
          <p:nvPr/>
        </p:nvSpPr>
        <p:spPr>
          <a:xfrm>
            <a:off x="6858000" y="3191554"/>
            <a:ext cx="2011679" cy="657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3600">
                <a:solidFill>
                  <a:srgbClr val="E94560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3</a:t>
            </a:r>
          </a:p>
          <a:p>
            <a:pPr algn="ctr">
              <a:defRPr sz="1000">
                <a:solidFill>
                  <a:srgbClr val="CADCFC"/>
                </a:solidFill>
              </a:defRPr>
            </a:pPr>
            <a:r>
              <a:t>LLM Karşılaştırma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Text 1"/>
          <p:cNvSpPr txBox="1"/>
          <p:nvPr/>
        </p:nvSpPr>
        <p:spPr>
          <a:xfrm>
            <a:off x="640079" y="436879"/>
            <a:ext cx="786384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Problem: Hukuki Bilgiye Erişim Darboğazı</a:t>
            </a:r>
          </a:p>
        </p:txBody>
      </p:sp>
      <p:sp>
        <p:nvSpPr>
          <p:cNvPr id="35" name="Text 2"/>
          <p:cNvSpPr txBox="1"/>
          <p:nvPr/>
        </p:nvSpPr>
        <p:spPr>
          <a:xfrm>
            <a:off x="640079" y="1111356"/>
            <a:ext cx="7863842" cy="474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400">
                <a:solidFill>
                  <a:srgbClr val="6B7280"/>
                </a:solidFill>
              </a:defRPr>
            </a:lvl1pPr>
          </a:lstStyle>
          <a:p>
            <a:pPr/>
            <a:r>
              <a:t>Hukuk profesyonelleri günde ortalama 4+ saat belge taramaya harcıyor. Mevcut arama sistemleri keyword-bazlı çalışıyor ve semantik anlam yakalayamıyor.</a:t>
            </a:r>
          </a:p>
        </p:txBody>
      </p:sp>
      <p:sp>
        <p:nvSpPr>
          <p:cNvPr id="36" name="Shape 3"/>
          <p:cNvSpPr/>
          <p:nvPr/>
        </p:nvSpPr>
        <p:spPr>
          <a:xfrm>
            <a:off x="640079" y="1920239"/>
            <a:ext cx="2560322" cy="25603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" name="Shape 4"/>
          <p:cNvSpPr/>
          <p:nvPr/>
        </p:nvSpPr>
        <p:spPr>
          <a:xfrm>
            <a:off x="640079" y="1920239"/>
            <a:ext cx="2560322" cy="54865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2960" y="2194560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Text 5"/>
          <p:cNvSpPr txBox="1"/>
          <p:nvPr/>
        </p:nvSpPr>
        <p:spPr>
          <a:xfrm>
            <a:off x="822960" y="2726689"/>
            <a:ext cx="219456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Hacim Sorunu</a:t>
            </a:r>
          </a:p>
        </p:txBody>
      </p:sp>
      <p:sp>
        <p:nvSpPr>
          <p:cNvPr id="40" name="Text 6"/>
          <p:cNvSpPr txBox="1"/>
          <p:nvPr/>
        </p:nvSpPr>
        <p:spPr>
          <a:xfrm>
            <a:off x="822960" y="3333764"/>
            <a:ext cx="2194561" cy="647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5000"/>
              </a:lnSpc>
              <a:defRPr sz="1200">
                <a:solidFill>
                  <a:srgbClr val="6B7280"/>
                </a:solidFill>
              </a:defRPr>
            </a:lvl1pPr>
          </a:lstStyle>
          <a:p>
            <a:pPr/>
            <a:r>
              <a:t>Binlerce içtihat, mevzuat ve sözleşme maddesi arasında manuel arama sürdürülebilir değil.</a:t>
            </a:r>
          </a:p>
        </p:txBody>
      </p:sp>
      <p:sp>
        <p:nvSpPr>
          <p:cNvPr id="41" name="Shape 7"/>
          <p:cNvSpPr/>
          <p:nvPr/>
        </p:nvSpPr>
        <p:spPr>
          <a:xfrm>
            <a:off x="3474720" y="1920239"/>
            <a:ext cx="2560321" cy="25603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" name="Shape 8"/>
          <p:cNvSpPr/>
          <p:nvPr/>
        </p:nvSpPr>
        <p:spPr>
          <a:xfrm>
            <a:off x="3474720" y="1920239"/>
            <a:ext cx="2560321" cy="54865"/>
          </a:xfrm>
          <a:prstGeom prst="rect">
            <a:avLst/>
          </a:prstGeom>
          <a:solidFill>
            <a:srgbClr val="D9770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3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657600" y="2194560"/>
            <a:ext cx="365760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44" name="Text 9"/>
          <p:cNvSpPr txBox="1"/>
          <p:nvPr/>
        </p:nvSpPr>
        <p:spPr>
          <a:xfrm>
            <a:off x="3657600" y="2726689"/>
            <a:ext cx="219456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Semantik Boşluk</a:t>
            </a:r>
          </a:p>
        </p:txBody>
      </p:sp>
      <p:sp>
        <p:nvSpPr>
          <p:cNvPr id="45" name="Text 10"/>
          <p:cNvSpPr txBox="1"/>
          <p:nvPr/>
        </p:nvSpPr>
        <p:spPr>
          <a:xfrm>
            <a:off x="3657600" y="3333764"/>
            <a:ext cx="2194561" cy="647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5000"/>
              </a:lnSpc>
              <a:defRPr sz="1200">
                <a:solidFill>
                  <a:srgbClr val="6B7280"/>
                </a:solidFill>
              </a:defRPr>
            </a:lvl1pPr>
          </a:lstStyle>
          <a:p>
            <a:pPr/>
            <a:r>
              <a:t>Keyword aramaları hukuki kavramların bağlamını anlayamıyor. 'Adil yargılanma hakkı' ≠ 'fair trial'.</a:t>
            </a:r>
          </a:p>
        </p:txBody>
      </p:sp>
      <p:sp>
        <p:nvSpPr>
          <p:cNvPr id="46" name="Shape 11"/>
          <p:cNvSpPr/>
          <p:nvPr/>
        </p:nvSpPr>
        <p:spPr>
          <a:xfrm>
            <a:off x="6309359" y="1920239"/>
            <a:ext cx="2560321" cy="25603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" name="Shape 12"/>
          <p:cNvSpPr/>
          <p:nvPr/>
        </p:nvSpPr>
        <p:spPr>
          <a:xfrm>
            <a:off x="6309359" y="1920239"/>
            <a:ext cx="2560321" cy="54865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8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492240" y="2194560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Text 13"/>
          <p:cNvSpPr txBox="1"/>
          <p:nvPr/>
        </p:nvSpPr>
        <p:spPr>
          <a:xfrm>
            <a:off x="6492240" y="2726689"/>
            <a:ext cx="219456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Veri Güvenliği</a:t>
            </a:r>
          </a:p>
        </p:txBody>
      </p:sp>
      <p:sp>
        <p:nvSpPr>
          <p:cNvPr id="50" name="Text 14"/>
          <p:cNvSpPr txBox="1"/>
          <p:nvPr/>
        </p:nvSpPr>
        <p:spPr>
          <a:xfrm>
            <a:off x="6492240" y="3333764"/>
            <a:ext cx="2194561" cy="647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5000"/>
              </a:lnSpc>
              <a:defRPr sz="1200">
                <a:solidFill>
                  <a:srgbClr val="6B7280"/>
                </a:solidFill>
              </a:defRPr>
            </a:lvl1pPr>
          </a:lstStyle>
          <a:p>
            <a:pPr/>
            <a:r>
              <a:t>Hassas hukuki belgeler cloud LLM'lere gönderilemez. Yerel çözüm zorunlu.</a:t>
            </a:r>
          </a:p>
        </p:txBody>
      </p:sp>
      <p:sp>
        <p:nvSpPr>
          <p:cNvPr id="51" name="Shape 15"/>
          <p:cNvSpPr/>
          <p:nvPr/>
        </p:nvSpPr>
        <p:spPr>
          <a:xfrm>
            <a:off x="640079" y="4661661"/>
            <a:ext cx="7863842" cy="12701"/>
          </a:xfrm>
          <a:prstGeom prst="rect">
            <a:avLst/>
          </a:prstGeom>
          <a:solidFill>
            <a:srgbClr val="E2E6E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Text 16"/>
          <p:cNvSpPr txBox="1"/>
          <p:nvPr/>
        </p:nvSpPr>
        <p:spPr>
          <a:xfrm>
            <a:off x="640079" y="4790747"/>
            <a:ext cx="786384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200">
                <a:solidFill>
                  <a:srgbClr val="E94560"/>
                </a:solidFill>
              </a:defRPr>
            </a:lvl1pPr>
          </a:lstStyle>
          <a:p>
            <a:pPr/>
            <a:r>
              <a:t>Yerel LLM + RAG ile semantik arama altyapısı kurarak bu üç sorunu aynı anda çözüyoruz.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Text 1"/>
          <p:cNvSpPr txBox="1"/>
          <p:nvPr/>
        </p:nvSpPr>
        <p:spPr>
          <a:xfrm>
            <a:off x="640079" y="233679"/>
            <a:ext cx="7863842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Veri: LexGLUE — 7 Hukuki NLP Benchmark</a:t>
            </a:r>
          </a:p>
        </p:txBody>
      </p:sp>
      <p:sp>
        <p:nvSpPr>
          <p:cNvPr id="56" name="Text 2"/>
          <p:cNvSpPr txBox="1"/>
          <p:nvPr/>
        </p:nvSpPr>
        <p:spPr>
          <a:xfrm>
            <a:off x="640079" y="1007286"/>
            <a:ext cx="78638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0D9488"/>
                </a:solidFill>
                <a:uFillTx/>
              </a:defRPr>
            </a:pP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kaggle.com/datasets/thedevastator/lexglue-legal-nlp-benchmark-dataset</a:t>
            </a:r>
          </a:p>
        </p:txBody>
      </p:sp>
      <p:graphicFrame>
        <p:nvGraphicFramePr>
          <p:cNvPr id="57" name="Table 0"/>
          <p:cNvGraphicFramePr/>
          <p:nvPr/>
        </p:nvGraphicFramePr>
        <p:xfrm>
          <a:off x="640080" y="1371600"/>
          <a:ext cx="6949441" cy="2075689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828800"/>
                <a:gridCol w="1828800"/>
                <a:gridCol w="1097280"/>
                <a:gridCol w="109728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Alan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Kayıt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Ort. Kelime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Tip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solidFill>
                      <a:srgbClr val="1A1A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case_hold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ABD İçtihat Hukuku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52,500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137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Single-label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ecthr_a / ecthr_b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AİHM Kararları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22,000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1,771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Multi-label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eurlex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AB Mevzuatı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65,000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466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Multi-label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scotus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ABD Yüksek Mahkeme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7,800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7,722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Single-label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ledgar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Sözleşme Maddeleri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80,000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83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Single-label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unfair_tos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Hizmet Şartları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9,414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27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Multi-label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6EF"/>
                      </a:solidFill>
                    </a:lnL>
                    <a:lnR w="6350">
                      <a:solidFill>
                        <a:srgbClr val="E2E6EF"/>
                      </a:solidFill>
                    </a:lnR>
                    <a:lnT w="6350">
                      <a:solidFill>
                        <a:srgbClr val="E2E6EF"/>
                      </a:solidFill>
                    </a:lnT>
                    <a:lnB w="6350">
                      <a:solidFill>
                        <a:srgbClr val="E2E6E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8" name="Shape 3"/>
          <p:cNvSpPr/>
          <p:nvPr/>
        </p:nvSpPr>
        <p:spPr>
          <a:xfrm>
            <a:off x="640079" y="3537606"/>
            <a:ext cx="7863842" cy="12802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" name="Shape 4"/>
          <p:cNvSpPr/>
          <p:nvPr/>
        </p:nvSpPr>
        <p:spPr>
          <a:xfrm>
            <a:off x="640080" y="3657600"/>
            <a:ext cx="54865" cy="1097281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Text 5"/>
          <p:cNvSpPr txBox="1"/>
          <p:nvPr/>
        </p:nvSpPr>
        <p:spPr>
          <a:xfrm>
            <a:off x="914399" y="3626088"/>
            <a:ext cx="7406642" cy="1160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Neden tüm dataset'leri alıyoruz?</a:t>
            </a:r>
          </a:p>
          <a:p>
            <a:pPr>
              <a:lnSpc>
                <a:spcPct val="130000"/>
              </a:lnSpc>
              <a:defRPr b="1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pPr>
          </a:p>
          <a:p>
            <a:pPr>
              <a:lnSpc>
                <a:spcPct val="130000"/>
              </a:lnSpc>
              <a:defRPr sz="1200">
                <a:solidFill>
                  <a:srgbClr val="6B7280"/>
                </a:solidFill>
              </a:defRPr>
            </a:pPr>
            <a:r>
              <a:t>Metadata-driven retrieval ile her belgeye source_dataset, domain, label bilgisi ekleniyor. ChromaDB'de filtered search sayesinde 'Sadece AİHM kararlarında ara' veya 'Sadece sözleşme maddelerinde ara' gibi domain-specific sorgulama yapabiliyoruz. Corpus büyüklüğü retrieval kalitesini artırıyor.</a:t>
            </a:r>
          </a:p>
        </p:txBody>
      </p:sp>
      <p:sp>
        <p:nvSpPr>
          <p:cNvPr id="61" name="Text 6"/>
          <p:cNvSpPr txBox="1"/>
          <p:nvPr/>
        </p:nvSpPr>
        <p:spPr>
          <a:xfrm>
            <a:off x="640079" y="4905047"/>
            <a:ext cx="786384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200">
                <a:solidFill>
                  <a:srgbClr val="E94560"/>
                </a:solidFill>
              </a:defRPr>
            </a:lvl1pPr>
          </a:lstStyle>
          <a:p>
            <a:pPr/>
            <a:r>
              <a:t>236K belge, 6 hukuki alan — tek bir vektör DB'de unified corpus, metadata ile filtrelenebilir.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Text 1"/>
          <p:cNvSpPr txBox="1"/>
          <p:nvPr/>
        </p:nvSpPr>
        <p:spPr>
          <a:xfrm>
            <a:off x="640079" y="436879"/>
            <a:ext cx="786384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Ön İşleme: Adaptive Chunking Stratejisi</a:t>
            </a:r>
          </a:p>
        </p:txBody>
      </p:sp>
      <p:sp>
        <p:nvSpPr>
          <p:cNvPr id="65" name="Text 2"/>
          <p:cNvSpPr txBox="1"/>
          <p:nvPr/>
        </p:nvSpPr>
        <p:spPr>
          <a:xfrm>
            <a:off x="640079" y="1024444"/>
            <a:ext cx="7863842" cy="419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300">
                <a:solidFill>
                  <a:srgbClr val="6B7280"/>
                </a:solidFill>
              </a:defRPr>
            </a:lvl1pPr>
          </a:lstStyle>
          <a:p>
            <a:pPr/>
            <a:r>
              <a:t>Metin uzunluğu 27 kelimeden (unfair_tos) 7,722 kelimeye (scotus) kadar değişiyor. Tek bir chunk boyutu tüm dataset'lere uymuyor.</a:t>
            </a:r>
          </a:p>
        </p:txBody>
      </p:sp>
      <p:sp>
        <p:nvSpPr>
          <p:cNvPr id="66" name="Shape 3"/>
          <p:cNvSpPr/>
          <p:nvPr/>
        </p:nvSpPr>
        <p:spPr>
          <a:xfrm>
            <a:off x="640080" y="1691639"/>
            <a:ext cx="4114801" cy="2743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" name="Text 4"/>
          <p:cNvSpPr txBox="1"/>
          <p:nvPr/>
        </p:nvSpPr>
        <p:spPr>
          <a:xfrm>
            <a:off x="914400" y="1822449"/>
            <a:ext cx="36576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Strateji</a:t>
            </a:r>
          </a:p>
        </p:txBody>
      </p:sp>
      <p:sp>
        <p:nvSpPr>
          <p:cNvPr id="68" name="Shape 5"/>
          <p:cNvSpPr/>
          <p:nvPr/>
        </p:nvSpPr>
        <p:spPr>
          <a:xfrm>
            <a:off x="914400" y="2240279"/>
            <a:ext cx="3657600" cy="868681"/>
          </a:xfrm>
          <a:prstGeom prst="rect">
            <a:avLst/>
          </a:prstGeom>
          <a:solidFill>
            <a:srgbClr val="F8F9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Text 6"/>
          <p:cNvSpPr txBox="1"/>
          <p:nvPr/>
        </p:nvSpPr>
        <p:spPr>
          <a:xfrm>
            <a:off x="1051560" y="2327910"/>
            <a:ext cx="338328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E9456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≤512 kelime</a:t>
            </a:r>
          </a:p>
        </p:txBody>
      </p:sp>
      <p:sp>
        <p:nvSpPr>
          <p:cNvPr id="70" name="Text 7"/>
          <p:cNvSpPr txBox="1"/>
          <p:nvPr/>
        </p:nvSpPr>
        <p:spPr>
          <a:xfrm>
            <a:off x="1051560" y="2607486"/>
            <a:ext cx="33832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F2937"/>
                </a:solidFill>
              </a:defRPr>
            </a:lvl1pPr>
          </a:lstStyle>
          <a:p>
            <a:pPr/>
            <a:r>
              <a:t>Doğrudan embed (chunk yok)</a:t>
            </a:r>
          </a:p>
        </p:txBody>
      </p:sp>
      <p:sp>
        <p:nvSpPr>
          <p:cNvPr id="71" name="Text 8"/>
          <p:cNvSpPr txBox="1"/>
          <p:nvPr/>
        </p:nvSpPr>
        <p:spPr>
          <a:xfrm>
            <a:off x="1051560" y="2834684"/>
            <a:ext cx="33832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6B7280"/>
                </a:solidFill>
              </a:defRPr>
            </a:lvl1pPr>
          </a:lstStyle>
          <a:p>
            <a:pPr/>
            <a:r>
              <a:t>ledgar, unfair_tos, case_hold</a:t>
            </a:r>
          </a:p>
        </p:txBody>
      </p:sp>
      <p:sp>
        <p:nvSpPr>
          <p:cNvPr id="72" name="Shape 9"/>
          <p:cNvSpPr/>
          <p:nvPr/>
        </p:nvSpPr>
        <p:spPr>
          <a:xfrm>
            <a:off x="914400" y="3337559"/>
            <a:ext cx="3657600" cy="868681"/>
          </a:xfrm>
          <a:prstGeom prst="rect">
            <a:avLst/>
          </a:prstGeom>
          <a:solidFill>
            <a:srgbClr val="F8F9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Text 10"/>
          <p:cNvSpPr txBox="1"/>
          <p:nvPr/>
        </p:nvSpPr>
        <p:spPr>
          <a:xfrm>
            <a:off x="1051560" y="3425189"/>
            <a:ext cx="338328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E9456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&gt;512 kelime</a:t>
            </a:r>
          </a:p>
        </p:txBody>
      </p:sp>
      <p:sp>
        <p:nvSpPr>
          <p:cNvPr id="74" name="Text 11"/>
          <p:cNvSpPr txBox="1"/>
          <p:nvPr/>
        </p:nvSpPr>
        <p:spPr>
          <a:xfrm>
            <a:off x="1051560" y="3704766"/>
            <a:ext cx="33832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F2937"/>
                </a:solidFill>
              </a:defRPr>
            </a:lvl1pPr>
          </a:lstStyle>
          <a:p>
            <a:pPr/>
            <a:r>
              <a:t>RecursiveCharacterTextSplitter</a:t>
            </a:r>
          </a:p>
        </p:txBody>
      </p:sp>
      <p:sp>
        <p:nvSpPr>
          <p:cNvPr id="75" name="Text 12"/>
          <p:cNvSpPr txBox="1"/>
          <p:nvPr/>
        </p:nvSpPr>
        <p:spPr>
          <a:xfrm>
            <a:off x="1051560" y="3931964"/>
            <a:ext cx="33832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6B7280"/>
                </a:solidFill>
              </a:defRPr>
            </a:lvl1pPr>
          </a:lstStyle>
          <a:p>
            <a:pPr/>
            <a:r>
              <a:t>ecthr, eurlex, scotus</a:t>
            </a:r>
          </a:p>
        </p:txBody>
      </p:sp>
      <p:sp>
        <p:nvSpPr>
          <p:cNvPr id="76" name="Shape 13"/>
          <p:cNvSpPr/>
          <p:nvPr/>
        </p:nvSpPr>
        <p:spPr>
          <a:xfrm>
            <a:off x="5029200" y="1691639"/>
            <a:ext cx="3474721" cy="2743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" name="Text 14"/>
          <p:cNvSpPr txBox="1"/>
          <p:nvPr/>
        </p:nvSpPr>
        <p:spPr>
          <a:xfrm>
            <a:off x="5303520" y="1822449"/>
            <a:ext cx="30175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Sonuçlar</a:t>
            </a:r>
          </a:p>
        </p:txBody>
      </p:sp>
      <p:sp>
        <p:nvSpPr>
          <p:cNvPr id="78" name="Text 15"/>
          <p:cNvSpPr txBox="1"/>
          <p:nvPr/>
        </p:nvSpPr>
        <p:spPr>
          <a:xfrm>
            <a:off x="5303520" y="2312670"/>
            <a:ext cx="146304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F346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3,500</a:t>
            </a:r>
          </a:p>
        </p:txBody>
      </p:sp>
      <p:sp>
        <p:nvSpPr>
          <p:cNvPr id="79" name="Text 16"/>
          <p:cNvSpPr txBox="1"/>
          <p:nvPr/>
        </p:nvSpPr>
        <p:spPr>
          <a:xfrm>
            <a:off x="6766559" y="2401746"/>
            <a:ext cx="155448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/>
            <a:r>
              <a:t>Örneklem belge</a:t>
            </a:r>
          </a:p>
        </p:txBody>
      </p:sp>
      <p:sp>
        <p:nvSpPr>
          <p:cNvPr id="80" name="Text 17"/>
          <p:cNvSpPr txBox="1"/>
          <p:nvPr/>
        </p:nvSpPr>
        <p:spPr>
          <a:xfrm>
            <a:off x="5303520" y="2861310"/>
            <a:ext cx="146304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F346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37,970</a:t>
            </a:r>
          </a:p>
        </p:txBody>
      </p:sp>
      <p:sp>
        <p:nvSpPr>
          <p:cNvPr id="81" name="Text 18"/>
          <p:cNvSpPr txBox="1"/>
          <p:nvPr/>
        </p:nvSpPr>
        <p:spPr>
          <a:xfrm>
            <a:off x="6766559" y="2950386"/>
            <a:ext cx="15544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/>
            <a:r>
              <a:t>Toplam chunk</a:t>
            </a:r>
          </a:p>
        </p:txBody>
      </p:sp>
      <p:sp>
        <p:nvSpPr>
          <p:cNvPr id="82" name="Text 19"/>
          <p:cNvSpPr txBox="1"/>
          <p:nvPr/>
        </p:nvSpPr>
        <p:spPr>
          <a:xfrm>
            <a:off x="5303520" y="3409949"/>
            <a:ext cx="146304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F346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150</a:t>
            </a:r>
          </a:p>
        </p:txBody>
      </p:sp>
      <p:sp>
        <p:nvSpPr>
          <p:cNvPr id="83" name="Text 20"/>
          <p:cNvSpPr txBox="1"/>
          <p:nvPr/>
        </p:nvSpPr>
        <p:spPr>
          <a:xfrm>
            <a:off x="6766559" y="3499025"/>
            <a:ext cx="155448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/>
            <a:r>
              <a:t>Medyan kelime/chunk</a:t>
            </a:r>
          </a:p>
        </p:txBody>
      </p:sp>
      <p:sp>
        <p:nvSpPr>
          <p:cNvPr id="84" name="Text 21"/>
          <p:cNvSpPr txBox="1"/>
          <p:nvPr/>
        </p:nvSpPr>
        <p:spPr>
          <a:xfrm>
            <a:off x="5303520" y="3958590"/>
            <a:ext cx="146304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F346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1,000 / 150</a:t>
            </a:r>
          </a:p>
        </p:txBody>
      </p:sp>
      <p:sp>
        <p:nvSpPr>
          <p:cNvPr id="85" name="Text 22"/>
          <p:cNvSpPr txBox="1"/>
          <p:nvPr/>
        </p:nvSpPr>
        <p:spPr>
          <a:xfrm>
            <a:off x="6766559" y="4047666"/>
            <a:ext cx="15544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/>
            <a:r>
              <a:t>Chunk size / overlap (char)</a:t>
            </a:r>
          </a:p>
        </p:txBody>
      </p:sp>
      <p:sp>
        <p:nvSpPr>
          <p:cNvPr id="86" name="Text 23"/>
          <p:cNvSpPr txBox="1"/>
          <p:nvPr/>
        </p:nvSpPr>
        <p:spPr>
          <a:xfrm>
            <a:off x="640079" y="4790747"/>
            <a:ext cx="786384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200">
                <a:solidFill>
                  <a:srgbClr val="E94560"/>
                </a:solidFill>
              </a:defRPr>
            </a:lvl1pPr>
          </a:lstStyle>
          <a:p>
            <a:pPr/>
            <a:r>
              <a:t>Adaptive chunking: kısa belgelerde bilgi kaybı yok, uzun belgelerde granüler retrieval mümkün.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1"/>
          <p:cNvSpPr txBox="1"/>
          <p:nvPr/>
        </p:nvSpPr>
        <p:spPr>
          <a:xfrm>
            <a:off x="640079" y="436879"/>
            <a:ext cx="786384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Model Seçimi: Ezbere Değil, Veriye Dayalı</a:t>
            </a:r>
          </a:p>
        </p:txBody>
      </p:sp>
      <p:sp>
        <p:nvSpPr>
          <p:cNvPr id="90" name="Text 2"/>
          <p:cNvSpPr txBox="1"/>
          <p:nvPr/>
        </p:nvSpPr>
        <p:spPr>
          <a:xfrm>
            <a:off x="640079" y="1059619"/>
            <a:ext cx="786384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6B7280"/>
                </a:solidFill>
              </a:defRPr>
            </a:lvl1pPr>
          </a:lstStyle>
          <a:p>
            <a:pPr/>
            <a:r>
              <a:t>Neden bu 3 model? LegalBench benchmark sonuçları, domain-specificity ve pratik deployment kısıtları.</a:t>
            </a:r>
          </a:p>
        </p:txBody>
      </p:sp>
      <p:sp>
        <p:nvSpPr>
          <p:cNvPr id="91" name="Shape 3"/>
          <p:cNvSpPr/>
          <p:nvPr/>
        </p:nvSpPr>
        <p:spPr>
          <a:xfrm>
            <a:off x="640079" y="1508760"/>
            <a:ext cx="2560322" cy="30175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" name="Shape 4"/>
          <p:cNvSpPr/>
          <p:nvPr/>
        </p:nvSpPr>
        <p:spPr>
          <a:xfrm>
            <a:off x="777239" y="1645920"/>
            <a:ext cx="1463042" cy="256033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Text 5"/>
          <p:cNvSpPr txBox="1"/>
          <p:nvPr/>
        </p:nvSpPr>
        <p:spPr>
          <a:xfrm>
            <a:off x="777239" y="1710436"/>
            <a:ext cx="1463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DOMAIN-SPECIFIC</a:t>
            </a:r>
          </a:p>
        </p:txBody>
      </p:sp>
      <p:sp>
        <p:nvSpPr>
          <p:cNvPr id="94" name="Text 6"/>
          <p:cNvSpPr txBox="1"/>
          <p:nvPr/>
        </p:nvSpPr>
        <p:spPr>
          <a:xfrm>
            <a:off x="822960" y="2090419"/>
            <a:ext cx="2194561" cy="436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b="1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Llama 3 Lawyer</a:t>
            </a:r>
          </a:p>
          <a:p>
            <a:pPr>
              <a:lnSpc>
                <a:spcPct val="115000"/>
              </a:lnSpc>
              <a:defRPr b="1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(GGUF)</a:t>
            </a:r>
          </a:p>
        </p:txBody>
      </p:sp>
      <p:sp>
        <p:nvSpPr>
          <p:cNvPr id="95" name="Text 7"/>
          <p:cNvSpPr txBox="1"/>
          <p:nvPr/>
        </p:nvSpPr>
        <p:spPr>
          <a:xfrm>
            <a:off x="822960" y="2966892"/>
            <a:ext cx="2194561" cy="558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5000"/>
              </a:lnSpc>
              <a:defRPr sz="1100">
                <a:solidFill>
                  <a:srgbClr val="6B7280"/>
                </a:solidFill>
              </a:defRPr>
            </a:lvl1pPr>
          </a:lstStyle>
          <a:p>
            <a:pPr/>
            <a:r>
              <a:t>Hukuki veri ile fine-tune edilmiş. Domain terminology avantajı. Ollama'da erişilebilir.</a:t>
            </a:r>
          </a:p>
        </p:txBody>
      </p:sp>
      <p:sp>
        <p:nvSpPr>
          <p:cNvPr id="96" name="Shape 8"/>
          <p:cNvSpPr/>
          <p:nvPr/>
        </p:nvSpPr>
        <p:spPr>
          <a:xfrm>
            <a:off x="822960" y="3884421"/>
            <a:ext cx="2194561" cy="12701"/>
          </a:xfrm>
          <a:prstGeom prst="rect">
            <a:avLst/>
          </a:prstGeom>
          <a:solidFill>
            <a:srgbClr val="E2E6E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9"/>
          <p:cNvSpPr txBox="1"/>
          <p:nvPr/>
        </p:nvSpPr>
        <p:spPr>
          <a:xfrm>
            <a:off x="822960" y="4070526"/>
            <a:ext cx="219456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E94560"/>
                </a:solidFill>
              </a:defRPr>
            </a:lvl1pPr>
          </a:lstStyle>
          <a:p>
            <a:pPr/>
            <a:r>
              <a:t>En hızlı (10.7s avg)</a:t>
            </a:r>
          </a:p>
        </p:txBody>
      </p:sp>
      <p:sp>
        <p:nvSpPr>
          <p:cNvPr id="98" name="Shape 10"/>
          <p:cNvSpPr/>
          <p:nvPr/>
        </p:nvSpPr>
        <p:spPr>
          <a:xfrm>
            <a:off x="3474720" y="1508760"/>
            <a:ext cx="2560321" cy="30175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" name="Shape 11"/>
          <p:cNvSpPr/>
          <p:nvPr/>
        </p:nvSpPr>
        <p:spPr>
          <a:xfrm>
            <a:off x="3611879" y="1645920"/>
            <a:ext cx="1463041" cy="256033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Text 12"/>
          <p:cNvSpPr txBox="1"/>
          <p:nvPr/>
        </p:nvSpPr>
        <p:spPr>
          <a:xfrm>
            <a:off x="3611879" y="1710436"/>
            <a:ext cx="14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BASELINE</a:t>
            </a:r>
          </a:p>
        </p:txBody>
      </p:sp>
      <p:sp>
        <p:nvSpPr>
          <p:cNvPr id="101" name="Text 13"/>
          <p:cNvSpPr txBox="1"/>
          <p:nvPr/>
        </p:nvSpPr>
        <p:spPr>
          <a:xfrm>
            <a:off x="3657600" y="2090419"/>
            <a:ext cx="2194561" cy="436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b="1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Mistral 7B</a:t>
            </a:r>
          </a:p>
          <a:p>
            <a:pPr>
              <a:lnSpc>
                <a:spcPct val="115000"/>
              </a:lnSpc>
              <a:defRPr b="1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Instruct</a:t>
            </a:r>
          </a:p>
        </p:txBody>
      </p:sp>
      <p:sp>
        <p:nvSpPr>
          <p:cNvPr id="102" name="Text 14"/>
          <p:cNvSpPr txBox="1"/>
          <p:nvPr/>
        </p:nvSpPr>
        <p:spPr>
          <a:xfrm>
            <a:off x="3657600" y="2966892"/>
            <a:ext cx="2194561" cy="558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5000"/>
              </a:lnSpc>
              <a:defRPr sz="1100">
                <a:solidFill>
                  <a:srgbClr val="6B7280"/>
                </a:solidFill>
              </a:defRPr>
            </a:lvl1pPr>
          </a:lstStyle>
          <a:p>
            <a:pPr/>
            <a:r>
              <a:t>SaulLM'in base modeli. Güçlü genel reasoning. Benchmark baseline olarak şart.</a:t>
            </a:r>
          </a:p>
        </p:txBody>
      </p:sp>
      <p:sp>
        <p:nvSpPr>
          <p:cNvPr id="103" name="Shape 15"/>
          <p:cNvSpPr/>
          <p:nvPr/>
        </p:nvSpPr>
        <p:spPr>
          <a:xfrm>
            <a:off x="3657600" y="3884421"/>
            <a:ext cx="2194561" cy="12701"/>
          </a:xfrm>
          <a:prstGeom prst="rect">
            <a:avLst/>
          </a:prstGeom>
          <a:solidFill>
            <a:srgbClr val="E2E6E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Text 16"/>
          <p:cNvSpPr txBox="1"/>
          <p:nvPr/>
        </p:nvSpPr>
        <p:spPr>
          <a:xfrm>
            <a:off x="3657600" y="4070526"/>
            <a:ext cx="219456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F3460"/>
                </a:solidFill>
              </a:defRPr>
            </a:lvl1pPr>
          </a:lstStyle>
          <a:p>
            <a:pPr/>
            <a:r>
              <a:t>Orta hız (32.6s avg)</a:t>
            </a:r>
          </a:p>
        </p:txBody>
      </p:sp>
      <p:sp>
        <p:nvSpPr>
          <p:cNvPr id="105" name="Shape 17"/>
          <p:cNvSpPr/>
          <p:nvPr/>
        </p:nvSpPr>
        <p:spPr>
          <a:xfrm>
            <a:off x="6309359" y="1508760"/>
            <a:ext cx="2560321" cy="30175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" name="Shape 18"/>
          <p:cNvSpPr/>
          <p:nvPr/>
        </p:nvSpPr>
        <p:spPr>
          <a:xfrm>
            <a:off x="6446520" y="1645920"/>
            <a:ext cx="1463041" cy="256033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19"/>
          <p:cNvSpPr txBox="1"/>
          <p:nvPr/>
        </p:nvSpPr>
        <p:spPr>
          <a:xfrm>
            <a:off x="6446520" y="1710436"/>
            <a:ext cx="14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CROSS-CHECK</a:t>
            </a:r>
          </a:p>
        </p:txBody>
      </p:sp>
      <p:sp>
        <p:nvSpPr>
          <p:cNvPr id="108" name="Text 20"/>
          <p:cNvSpPr txBox="1"/>
          <p:nvPr/>
        </p:nvSpPr>
        <p:spPr>
          <a:xfrm>
            <a:off x="6492240" y="2090419"/>
            <a:ext cx="2194561" cy="436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b="1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Llama 3 8B</a:t>
            </a:r>
          </a:p>
          <a:p>
            <a:pPr>
              <a:lnSpc>
                <a:spcPct val="115000"/>
              </a:lnSpc>
              <a:defRPr b="1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Instruct</a:t>
            </a:r>
          </a:p>
        </p:txBody>
      </p:sp>
      <p:sp>
        <p:nvSpPr>
          <p:cNvPr id="109" name="Text 21"/>
          <p:cNvSpPr txBox="1"/>
          <p:nvPr/>
        </p:nvSpPr>
        <p:spPr>
          <a:xfrm>
            <a:off x="6492240" y="3072939"/>
            <a:ext cx="2194561" cy="346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5000"/>
              </a:lnSpc>
              <a:defRPr sz="1100">
                <a:solidFill>
                  <a:srgbClr val="6B7280"/>
                </a:solidFill>
              </a:defRPr>
            </a:lvl1pPr>
          </a:lstStyle>
          <a:p>
            <a:pPr/>
            <a:r>
              <a:t>En güncel training data. Farklı mimari ailesi. Cross-validation sağlıyor.</a:t>
            </a:r>
          </a:p>
        </p:txBody>
      </p:sp>
      <p:sp>
        <p:nvSpPr>
          <p:cNvPr id="110" name="Shape 22"/>
          <p:cNvSpPr/>
          <p:nvPr/>
        </p:nvSpPr>
        <p:spPr>
          <a:xfrm>
            <a:off x="6492240" y="3884421"/>
            <a:ext cx="2194561" cy="12701"/>
          </a:xfrm>
          <a:prstGeom prst="rect">
            <a:avLst/>
          </a:prstGeom>
          <a:solidFill>
            <a:srgbClr val="E2E6E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Text 23"/>
          <p:cNvSpPr txBox="1"/>
          <p:nvPr/>
        </p:nvSpPr>
        <p:spPr>
          <a:xfrm>
            <a:off x="6492240" y="4070526"/>
            <a:ext cx="219456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9488"/>
                </a:solidFill>
              </a:defRPr>
            </a:lvl1pPr>
          </a:lstStyle>
          <a:p>
            <a:pPr/>
            <a:r>
              <a:t>En detaylı cevaplar</a:t>
            </a:r>
          </a:p>
        </p:txBody>
      </p:sp>
      <p:sp>
        <p:nvSpPr>
          <p:cNvPr id="112" name="Text 24"/>
          <p:cNvSpPr txBox="1"/>
          <p:nvPr/>
        </p:nvSpPr>
        <p:spPr>
          <a:xfrm>
            <a:off x="640079" y="4790747"/>
            <a:ext cx="786384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200">
                <a:solidFill>
                  <a:srgbClr val="E94560"/>
                </a:solidFill>
              </a:defRPr>
            </a:lvl1pPr>
          </a:lstStyle>
          <a:p>
            <a:pPr/>
            <a:r>
              <a:t>3 farklı model ailesi ile cross-validation: domain-specific vs general-purpose farkını ölçüyoruz.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0"/>
          <p:cNvSpPr txBox="1"/>
          <p:nvPr/>
        </p:nvSpPr>
        <p:spPr>
          <a:xfrm>
            <a:off x="640079" y="349249"/>
            <a:ext cx="7863842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Sistem Mimarisi</a:t>
            </a:r>
          </a:p>
        </p:txBody>
      </p:sp>
      <p:sp>
        <p:nvSpPr>
          <p:cNvPr id="115" name="Shape 1"/>
          <p:cNvSpPr/>
          <p:nvPr/>
        </p:nvSpPr>
        <p:spPr>
          <a:xfrm>
            <a:off x="365759" y="1097280"/>
            <a:ext cx="1554482" cy="146304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11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" y="1188719"/>
            <a:ext cx="457200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Text 2"/>
          <p:cNvSpPr txBox="1"/>
          <p:nvPr/>
        </p:nvSpPr>
        <p:spPr>
          <a:xfrm>
            <a:off x="457200" y="1786702"/>
            <a:ext cx="1371600" cy="3127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0000"/>
              </a:lnSpc>
              <a:defRPr b="1" sz="1100">
                <a:solidFill>
                  <a:srgbClr val="FFFFFF"/>
                </a:solidFill>
              </a:defRPr>
            </a:pPr>
            <a:r>
              <a:t>LexGLUE</a:t>
            </a:r>
          </a:p>
          <a:p>
            <a:pPr algn="ctr">
              <a:lnSpc>
                <a:spcPct val="110000"/>
              </a:lnSpc>
              <a:defRPr b="1" sz="1100">
                <a:solidFill>
                  <a:srgbClr val="FFFFFF"/>
                </a:solidFill>
              </a:defRPr>
            </a:pPr>
            <a:r>
              <a:t>7 Dataset</a:t>
            </a:r>
          </a:p>
        </p:txBody>
      </p:sp>
      <p:sp>
        <p:nvSpPr>
          <p:cNvPr id="118" name="Text 3"/>
          <p:cNvSpPr txBox="1"/>
          <p:nvPr/>
        </p:nvSpPr>
        <p:spPr>
          <a:xfrm>
            <a:off x="457200" y="2245360"/>
            <a:ext cx="1371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CADCFC"/>
                </a:solidFill>
              </a:defRPr>
            </a:lvl1pPr>
          </a:lstStyle>
          <a:p>
            <a:pPr/>
            <a:r>
              <a:t>236K belge</a:t>
            </a:r>
          </a:p>
        </p:txBody>
      </p:sp>
      <p:pic>
        <p:nvPicPr>
          <p:cNvPr id="11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65960" y="1645920"/>
            <a:ext cx="18288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Shape 4"/>
          <p:cNvSpPr/>
          <p:nvPr/>
        </p:nvSpPr>
        <p:spPr>
          <a:xfrm>
            <a:off x="2148839" y="1097280"/>
            <a:ext cx="1554481" cy="146304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121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697479" y="1188719"/>
            <a:ext cx="457201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Text 5"/>
          <p:cNvSpPr txBox="1"/>
          <p:nvPr/>
        </p:nvSpPr>
        <p:spPr>
          <a:xfrm>
            <a:off x="2240279" y="1786702"/>
            <a:ext cx="1371601" cy="3127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0000"/>
              </a:lnSpc>
              <a:defRPr b="1" sz="1100">
                <a:solidFill>
                  <a:srgbClr val="FFFFFF"/>
                </a:solidFill>
              </a:defRPr>
            </a:pPr>
            <a:r>
              <a:t>Adaptive</a:t>
            </a:r>
          </a:p>
          <a:p>
            <a:pPr algn="ctr">
              <a:lnSpc>
                <a:spcPct val="110000"/>
              </a:lnSpc>
              <a:defRPr b="1" sz="1100">
                <a:solidFill>
                  <a:srgbClr val="FFFFFF"/>
                </a:solidFill>
              </a:defRPr>
            </a:pPr>
            <a:r>
              <a:t>Chunking</a:t>
            </a:r>
          </a:p>
        </p:txBody>
      </p:sp>
      <p:sp>
        <p:nvSpPr>
          <p:cNvPr id="123" name="Text 6"/>
          <p:cNvSpPr txBox="1"/>
          <p:nvPr/>
        </p:nvSpPr>
        <p:spPr>
          <a:xfrm>
            <a:off x="2240279" y="2245360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CADCFC"/>
                </a:solidFill>
              </a:defRPr>
            </a:lvl1pPr>
          </a:lstStyle>
          <a:p>
            <a:pPr/>
            <a:r>
              <a:t>37,970 chunk</a:t>
            </a:r>
          </a:p>
        </p:txBody>
      </p:sp>
      <p:pic>
        <p:nvPicPr>
          <p:cNvPr id="124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49040" y="1645920"/>
            <a:ext cx="18288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Shape 7"/>
          <p:cNvSpPr/>
          <p:nvPr/>
        </p:nvSpPr>
        <p:spPr>
          <a:xfrm>
            <a:off x="3931920" y="1097280"/>
            <a:ext cx="1554481" cy="146304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126" name="Image 4" descr="Imag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480559" y="1188719"/>
            <a:ext cx="457201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Text 8"/>
          <p:cNvSpPr txBox="1"/>
          <p:nvPr/>
        </p:nvSpPr>
        <p:spPr>
          <a:xfrm>
            <a:off x="4023359" y="1786702"/>
            <a:ext cx="1371601" cy="3127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0000"/>
              </a:lnSpc>
              <a:defRPr b="1" sz="1100">
                <a:solidFill>
                  <a:srgbClr val="FFFFFF"/>
                </a:solidFill>
              </a:defRPr>
            </a:pPr>
            <a:r>
              <a:t>Embedding</a:t>
            </a:r>
          </a:p>
          <a:p>
            <a:pPr algn="ctr">
              <a:lnSpc>
                <a:spcPct val="110000"/>
              </a:lnSpc>
              <a:defRPr b="1" sz="1100">
                <a:solidFill>
                  <a:srgbClr val="FFFFFF"/>
                </a:solidFill>
              </a:defRPr>
            </a:pPr>
            <a:r>
              <a:t>MiniLM-L6</a:t>
            </a:r>
          </a:p>
        </p:txBody>
      </p:sp>
      <p:sp>
        <p:nvSpPr>
          <p:cNvPr id="128" name="Text 9"/>
          <p:cNvSpPr txBox="1"/>
          <p:nvPr/>
        </p:nvSpPr>
        <p:spPr>
          <a:xfrm>
            <a:off x="4023359" y="2245360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CADCFC"/>
                </a:solidFill>
              </a:defRPr>
            </a:lvl1pPr>
          </a:lstStyle>
          <a:p>
            <a:pPr/>
            <a:r>
              <a:t>384 dim</a:t>
            </a:r>
          </a:p>
        </p:txBody>
      </p:sp>
      <p:pic>
        <p:nvPicPr>
          <p:cNvPr id="129" name="Image 5" descr="Imag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532120" y="1645920"/>
            <a:ext cx="18288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Shape 10"/>
          <p:cNvSpPr/>
          <p:nvPr/>
        </p:nvSpPr>
        <p:spPr>
          <a:xfrm>
            <a:off x="5715000" y="1097280"/>
            <a:ext cx="1554481" cy="1463041"/>
          </a:xfrm>
          <a:prstGeom prst="rect">
            <a:avLst/>
          </a:prstGeom>
          <a:solidFill>
            <a:srgbClr val="0F3460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131" name="Image 6" descr="Imag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63640" y="1188719"/>
            <a:ext cx="457201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Text 11"/>
          <p:cNvSpPr txBox="1"/>
          <p:nvPr/>
        </p:nvSpPr>
        <p:spPr>
          <a:xfrm>
            <a:off x="5806440" y="1786702"/>
            <a:ext cx="1371601" cy="3127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0000"/>
              </a:lnSpc>
              <a:defRPr b="1" sz="1100">
                <a:solidFill>
                  <a:srgbClr val="FFFFFF"/>
                </a:solidFill>
              </a:defRPr>
            </a:pPr>
            <a:r>
              <a:t>ChromaDB</a:t>
            </a:r>
          </a:p>
          <a:p>
            <a:pPr algn="ctr">
              <a:lnSpc>
                <a:spcPct val="110000"/>
              </a:lnSpc>
              <a:defRPr b="1" sz="1100">
                <a:solidFill>
                  <a:srgbClr val="FFFFFF"/>
                </a:solidFill>
              </a:defRPr>
            </a:pPr>
            <a:r>
              <a:t>Vektör DB</a:t>
            </a:r>
          </a:p>
        </p:txBody>
      </p:sp>
      <p:sp>
        <p:nvSpPr>
          <p:cNvPr id="133" name="Text 12"/>
          <p:cNvSpPr txBox="1"/>
          <p:nvPr/>
        </p:nvSpPr>
        <p:spPr>
          <a:xfrm>
            <a:off x="5806440" y="2245360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CADCFC"/>
                </a:solidFill>
              </a:defRPr>
            </a:lvl1pPr>
          </a:lstStyle>
          <a:p>
            <a:pPr/>
            <a:r>
              <a:t>Cosine sim.</a:t>
            </a:r>
          </a:p>
        </p:txBody>
      </p:sp>
      <p:pic>
        <p:nvPicPr>
          <p:cNvPr id="134" name="Image 7" descr="Imag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315200" y="1645920"/>
            <a:ext cx="182880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Shape 13"/>
          <p:cNvSpPr/>
          <p:nvPr/>
        </p:nvSpPr>
        <p:spPr>
          <a:xfrm>
            <a:off x="7498080" y="1097280"/>
            <a:ext cx="1554481" cy="1463041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136" name="Image 8" descr="Image 8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046719" y="1188719"/>
            <a:ext cx="457201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14"/>
          <p:cNvSpPr txBox="1"/>
          <p:nvPr/>
        </p:nvSpPr>
        <p:spPr>
          <a:xfrm>
            <a:off x="7589519" y="1786702"/>
            <a:ext cx="1371601" cy="3127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10000"/>
              </a:lnSpc>
              <a:defRPr b="1" sz="1100">
                <a:solidFill>
                  <a:srgbClr val="FFFFFF"/>
                </a:solidFill>
              </a:defRPr>
            </a:pPr>
            <a:r>
              <a:t>Yerel LLM</a:t>
            </a:r>
          </a:p>
          <a:p>
            <a:pPr algn="ctr">
              <a:lnSpc>
                <a:spcPct val="110000"/>
              </a:lnSpc>
              <a:defRPr b="1" sz="1100">
                <a:solidFill>
                  <a:srgbClr val="FFFFFF"/>
                </a:solidFill>
              </a:defRPr>
            </a:pPr>
            <a:r>
              <a:t>3 Model</a:t>
            </a:r>
          </a:p>
        </p:txBody>
      </p:sp>
      <p:sp>
        <p:nvSpPr>
          <p:cNvPr id="138" name="Text 15"/>
          <p:cNvSpPr txBox="1"/>
          <p:nvPr/>
        </p:nvSpPr>
        <p:spPr>
          <a:xfrm>
            <a:off x="7589519" y="2245360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CADCFC"/>
                </a:solidFill>
              </a:defRPr>
            </a:lvl1pPr>
          </a:lstStyle>
          <a:p>
            <a:pPr/>
            <a:r>
              <a:t>Ollama</a:t>
            </a:r>
          </a:p>
        </p:txBody>
      </p:sp>
      <p:sp>
        <p:nvSpPr>
          <p:cNvPr id="139" name="Text 16"/>
          <p:cNvSpPr txBox="1"/>
          <p:nvPr/>
        </p:nvSpPr>
        <p:spPr>
          <a:xfrm>
            <a:off x="640079" y="2988309"/>
            <a:ext cx="786384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 RAG Stratejisi — Aynı Corpus, Farklı Yaklaşım</a:t>
            </a:r>
          </a:p>
        </p:txBody>
      </p:sp>
      <p:sp>
        <p:nvSpPr>
          <p:cNvPr id="140" name="Shape 17"/>
          <p:cNvSpPr/>
          <p:nvPr/>
        </p:nvSpPr>
        <p:spPr>
          <a:xfrm>
            <a:off x="640079" y="3429000"/>
            <a:ext cx="2560322" cy="1371600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" name="Shape 18"/>
          <p:cNvSpPr/>
          <p:nvPr/>
        </p:nvSpPr>
        <p:spPr>
          <a:xfrm>
            <a:off x="640079" y="3429000"/>
            <a:ext cx="2560322" cy="4572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19"/>
          <p:cNvSpPr txBox="1"/>
          <p:nvPr/>
        </p:nvSpPr>
        <p:spPr>
          <a:xfrm>
            <a:off x="777240" y="3624579"/>
            <a:ext cx="22860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Basic RAG</a:t>
            </a:r>
          </a:p>
        </p:txBody>
      </p:sp>
      <p:sp>
        <p:nvSpPr>
          <p:cNvPr id="143" name="Text 20"/>
          <p:cNvSpPr txBox="1"/>
          <p:nvPr/>
        </p:nvSpPr>
        <p:spPr>
          <a:xfrm>
            <a:off x="777240" y="3959859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Query → Top-K → LLM</a:t>
            </a:r>
          </a:p>
        </p:txBody>
      </p:sp>
      <p:sp>
        <p:nvSpPr>
          <p:cNvPr id="144" name="Text 21"/>
          <p:cNvSpPr txBox="1"/>
          <p:nvPr/>
        </p:nvSpPr>
        <p:spPr>
          <a:xfrm>
            <a:off x="777240" y="4276266"/>
            <a:ext cx="22860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CADCFC"/>
                </a:solidFill>
              </a:defRPr>
            </a:lvl1pPr>
          </a:lstStyle>
          <a:p>
            <a:pPr/>
            <a:r>
              <a:t>Hızlı, basit sorular</a:t>
            </a:r>
          </a:p>
        </p:txBody>
      </p:sp>
      <p:sp>
        <p:nvSpPr>
          <p:cNvPr id="145" name="Shape 22"/>
          <p:cNvSpPr/>
          <p:nvPr/>
        </p:nvSpPr>
        <p:spPr>
          <a:xfrm>
            <a:off x="3474720" y="3429000"/>
            <a:ext cx="2560321" cy="1371600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" name="Shape 23"/>
          <p:cNvSpPr/>
          <p:nvPr/>
        </p:nvSpPr>
        <p:spPr>
          <a:xfrm>
            <a:off x="3474720" y="3429000"/>
            <a:ext cx="2560321" cy="45721"/>
          </a:xfrm>
          <a:prstGeom prst="rect">
            <a:avLst/>
          </a:prstGeom>
          <a:solidFill>
            <a:srgbClr val="D9770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Text 24"/>
          <p:cNvSpPr txBox="1"/>
          <p:nvPr/>
        </p:nvSpPr>
        <p:spPr>
          <a:xfrm>
            <a:off x="3611879" y="3624579"/>
            <a:ext cx="22860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Adaptive RAG</a:t>
            </a:r>
          </a:p>
        </p:txBody>
      </p:sp>
      <p:sp>
        <p:nvSpPr>
          <p:cNvPr id="148" name="Text 25"/>
          <p:cNvSpPr txBox="1"/>
          <p:nvPr/>
        </p:nvSpPr>
        <p:spPr>
          <a:xfrm>
            <a:off x="3611879" y="3959859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Query → Classify → Route → LLM</a:t>
            </a:r>
          </a:p>
        </p:txBody>
      </p:sp>
      <p:sp>
        <p:nvSpPr>
          <p:cNvPr id="149" name="Text 26"/>
          <p:cNvSpPr txBox="1"/>
          <p:nvPr/>
        </p:nvSpPr>
        <p:spPr>
          <a:xfrm>
            <a:off x="3611879" y="4276266"/>
            <a:ext cx="22860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CADCFC"/>
                </a:solidFill>
              </a:defRPr>
            </a:lvl1pPr>
          </a:lstStyle>
          <a:p>
            <a:pPr/>
            <a:r>
              <a:t>Akıllı yönlendirme</a:t>
            </a:r>
          </a:p>
        </p:txBody>
      </p:sp>
      <p:sp>
        <p:nvSpPr>
          <p:cNvPr id="150" name="Shape 27"/>
          <p:cNvSpPr/>
          <p:nvPr/>
        </p:nvSpPr>
        <p:spPr>
          <a:xfrm>
            <a:off x="6309359" y="3429000"/>
            <a:ext cx="2560321" cy="1371600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" name="Shape 28"/>
          <p:cNvSpPr/>
          <p:nvPr/>
        </p:nvSpPr>
        <p:spPr>
          <a:xfrm>
            <a:off x="6309359" y="3429000"/>
            <a:ext cx="2560321" cy="45721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Text 29"/>
          <p:cNvSpPr txBox="1"/>
          <p:nvPr/>
        </p:nvSpPr>
        <p:spPr>
          <a:xfrm>
            <a:off x="6446520" y="3624579"/>
            <a:ext cx="22860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RAG Fusion</a:t>
            </a:r>
          </a:p>
        </p:txBody>
      </p:sp>
      <p:sp>
        <p:nvSpPr>
          <p:cNvPr id="153" name="Text 30"/>
          <p:cNvSpPr txBox="1"/>
          <p:nvPr/>
        </p:nvSpPr>
        <p:spPr>
          <a:xfrm>
            <a:off x="6446520" y="3959859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Query → N variant → RRF → LLM</a:t>
            </a:r>
          </a:p>
        </p:txBody>
      </p:sp>
      <p:sp>
        <p:nvSpPr>
          <p:cNvPr id="154" name="Text 31"/>
          <p:cNvSpPr txBox="1"/>
          <p:nvPr/>
        </p:nvSpPr>
        <p:spPr>
          <a:xfrm>
            <a:off x="6446520" y="4276266"/>
            <a:ext cx="22860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CADCFC"/>
                </a:solidFill>
              </a:defRPr>
            </a:lvl1pPr>
          </a:lstStyle>
          <a:p>
            <a:pPr/>
            <a:r>
              <a:t>En kapsamlı retrieval</a:t>
            </a:r>
          </a:p>
        </p:txBody>
      </p:sp>
      <p:pic>
        <p:nvPicPr>
          <p:cNvPr id="15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20340" y="1188720"/>
            <a:ext cx="457201" cy="457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1"/>
          <p:cNvSpPr txBox="1"/>
          <p:nvPr/>
        </p:nvSpPr>
        <p:spPr>
          <a:xfrm>
            <a:off x="640079" y="414019"/>
            <a:ext cx="786384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 RAG Mimarisi: Tasarım Mantığı</a:t>
            </a:r>
          </a:p>
        </p:txBody>
      </p:sp>
      <p:sp>
        <p:nvSpPr>
          <p:cNvPr id="159" name="Shape 2"/>
          <p:cNvSpPr/>
          <p:nvPr/>
        </p:nvSpPr>
        <p:spPr>
          <a:xfrm>
            <a:off x="640079" y="1097280"/>
            <a:ext cx="7863842" cy="1143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" name="Shape 3"/>
          <p:cNvSpPr/>
          <p:nvPr/>
        </p:nvSpPr>
        <p:spPr>
          <a:xfrm>
            <a:off x="640080" y="1097280"/>
            <a:ext cx="54865" cy="114300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6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" y="1188719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Text 4"/>
          <p:cNvSpPr txBox="1"/>
          <p:nvPr/>
        </p:nvSpPr>
        <p:spPr>
          <a:xfrm>
            <a:off x="1371600" y="1240789"/>
            <a:ext cx="18288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Basic RAG</a:t>
            </a:r>
          </a:p>
        </p:txBody>
      </p:sp>
      <p:sp>
        <p:nvSpPr>
          <p:cNvPr id="163" name="Text 5"/>
          <p:cNvSpPr txBox="1"/>
          <p:nvPr/>
        </p:nvSpPr>
        <p:spPr>
          <a:xfrm>
            <a:off x="914400" y="1680014"/>
            <a:ext cx="3474721" cy="343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1F2937"/>
                </a:solidFill>
              </a:defRPr>
            </a:lvl1pPr>
          </a:lstStyle>
          <a:p>
            <a:pPr/>
            <a:r>
              <a:t>Sorgu embed edilir → ChromaDB'den Top-K → Context + soru LLM'e gönderilir.</a:t>
            </a:r>
          </a:p>
        </p:txBody>
      </p:sp>
      <p:sp>
        <p:nvSpPr>
          <p:cNvPr id="164" name="Text 6"/>
          <p:cNvSpPr txBox="1"/>
          <p:nvPr/>
        </p:nvSpPr>
        <p:spPr>
          <a:xfrm>
            <a:off x="4663440" y="1239519"/>
            <a:ext cx="914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6B7280"/>
                </a:solidFill>
              </a:defRPr>
            </a:lvl1pPr>
          </a:lstStyle>
          <a:p>
            <a:pPr/>
            <a:r>
              <a:t>Ne Zaman?</a:t>
            </a:r>
          </a:p>
        </p:txBody>
      </p:sp>
      <p:sp>
        <p:nvSpPr>
          <p:cNvPr id="165" name="Text 7"/>
          <p:cNvSpPr txBox="1"/>
          <p:nvPr/>
        </p:nvSpPr>
        <p:spPr>
          <a:xfrm>
            <a:off x="4663440" y="1500560"/>
            <a:ext cx="1828801" cy="33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F2937"/>
                </a:solidFill>
              </a:defRPr>
            </a:lvl1pPr>
          </a:lstStyle>
          <a:p>
            <a:pPr/>
            <a:r>
              <a:t>Basit tanım soruları, tek domain sorguları.</a:t>
            </a:r>
          </a:p>
        </p:txBody>
      </p:sp>
      <p:sp>
        <p:nvSpPr>
          <p:cNvPr id="166" name="Text 8"/>
          <p:cNvSpPr txBox="1"/>
          <p:nvPr/>
        </p:nvSpPr>
        <p:spPr>
          <a:xfrm>
            <a:off x="6675119" y="1239519"/>
            <a:ext cx="914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6B7280"/>
                </a:solidFill>
              </a:defRPr>
            </a:lvl1pPr>
          </a:lstStyle>
          <a:p>
            <a:pPr/>
            <a:r>
              <a:t>Trade-off</a:t>
            </a:r>
          </a:p>
        </p:txBody>
      </p:sp>
      <p:sp>
        <p:nvSpPr>
          <p:cNvPr id="167" name="Text 9"/>
          <p:cNvSpPr txBox="1"/>
          <p:nvPr/>
        </p:nvSpPr>
        <p:spPr>
          <a:xfrm>
            <a:off x="6675119" y="1500560"/>
            <a:ext cx="1645921" cy="33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F2937"/>
                </a:solidFill>
              </a:defRPr>
            </a:lvl1pPr>
          </a:lstStyle>
          <a:p>
            <a:pPr/>
            <a:r>
              <a:t>Hızlı ama tek perspektif. Query-document mismatch riski.</a:t>
            </a:r>
          </a:p>
        </p:txBody>
      </p:sp>
      <p:sp>
        <p:nvSpPr>
          <p:cNvPr id="168" name="Shape 10"/>
          <p:cNvSpPr/>
          <p:nvPr/>
        </p:nvSpPr>
        <p:spPr>
          <a:xfrm>
            <a:off x="640079" y="2423160"/>
            <a:ext cx="7863842" cy="1143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" name="Shape 11"/>
          <p:cNvSpPr/>
          <p:nvPr/>
        </p:nvSpPr>
        <p:spPr>
          <a:xfrm>
            <a:off x="640080" y="2423160"/>
            <a:ext cx="54865" cy="1143001"/>
          </a:xfrm>
          <a:prstGeom prst="rect">
            <a:avLst/>
          </a:prstGeom>
          <a:solidFill>
            <a:srgbClr val="D9770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70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4400" y="2514600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171" name="Text 12"/>
          <p:cNvSpPr txBox="1"/>
          <p:nvPr/>
        </p:nvSpPr>
        <p:spPr>
          <a:xfrm>
            <a:off x="1371600" y="2566670"/>
            <a:ext cx="18288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Adaptive RAG</a:t>
            </a:r>
          </a:p>
        </p:txBody>
      </p:sp>
      <p:sp>
        <p:nvSpPr>
          <p:cNvPr id="172" name="Text 13"/>
          <p:cNvSpPr txBox="1"/>
          <p:nvPr/>
        </p:nvSpPr>
        <p:spPr>
          <a:xfrm>
            <a:off x="914400" y="3005894"/>
            <a:ext cx="3474721" cy="343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1F2937"/>
                </a:solidFill>
              </a:defRPr>
            </a:lvl1pPr>
          </a:lstStyle>
          <a:p>
            <a:pPr/>
            <a:r>
              <a:t>LLM sorunun karmaşıklığını sınıflar (Simple/Moderate/Complex). Complex → decompose + multi-step retrieve + synthesize.</a:t>
            </a:r>
          </a:p>
        </p:txBody>
      </p:sp>
      <p:sp>
        <p:nvSpPr>
          <p:cNvPr id="173" name="Text 14"/>
          <p:cNvSpPr txBox="1"/>
          <p:nvPr/>
        </p:nvSpPr>
        <p:spPr>
          <a:xfrm>
            <a:off x="4663440" y="2565399"/>
            <a:ext cx="914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6B7280"/>
                </a:solidFill>
              </a:defRPr>
            </a:lvl1pPr>
          </a:lstStyle>
          <a:p>
            <a:pPr/>
            <a:r>
              <a:t>Ne Zaman?</a:t>
            </a:r>
          </a:p>
        </p:txBody>
      </p:sp>
      <p:sp>
        <p:nvSpPr>
          <p:cNvPr id="174" name="Text 15"/>
          <p:cNvSpPr txBox="1"/>
          <p:nvPr/>
        </p:nvSpPr>
        <p:spPr>
          <a:xfrm>
            <a:off x="4663440" y="2826440"/>
            <a:ext cx="1828801" cy="33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F2937"/>
                </a:solidFill>
              </a:defRPr>
            </a:lvl1pPr>
          </a:lstStyle>
          <a:p>
            <a:pPr/>
            <a:r>
              <a:t>Karmaşıklığı bilinmeyen sorular, maliyet-optimizasyon.</a:t>
            </a:r>
          </a:p>
        </p:txBody>
      </p:sp>
      <p:sp>
        <p:nvSpPr>
          <p:cNvPr id="175" name="Text 16"/>
          <p:cNvSpPr txBox="1"/>
          <p:nvPr/>
        </p:nvSpPr>
        <p:spPr>
          <a:xfrm>
            <a:off x="6675119" y="2565399"/>
            <a:ext cx="914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6B7280"/>
                </a:solidFill>
              </a:defRPr>
            </a:lvl1pPr>
          </a:lstStyle>
          <a:p>
            <a:pPr/>
            <a:r>
              <a:t>Trade-off</a:t>
            </a:r>
          </a:p>
        </p:txBody>
      </p:sp>
      <p:sp>
        <p:nvSpPr>
          <p:cNvPr id="176" name="Text 17"/>
          <p:cNvSpPr txBox="1"/>
          <p:nvPr/>
        </p:nvSpPr>
        <p:spPr>
          <a:xfrm>
            <a:off x="6675119" y="2726756"/>
            <a:ext cx="1645921" cy="535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F2937"/>
                </a:solidFill>
              </a:defRPr>
            </a:lvl1pPr>
          </a:lstStyle>
          <a:p>
            <a:pPr/>
            <a:r>
              <a:t>Akıllı kaynak kullanımı ama classification hatası propagate edebilir.</a:t>
            </a:r>
          </a:p>
        </p:txBody>
      </p:sp>
      <p:sp>
        <p:nvSpPr>
          <p:cNvPr id="177" name="Shape 18"/>
          <p:cNvSpPr/>
          <p:nvPr/>
        </p:nvSpPr>
        <p:spPr>
          <a:xfrm>
            <a:off x="640079" y="3749040"/>
            <a:ext cx="7863842" cy="1143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" name="Shape 19"/>
          <p:cNvSpPr/>
          <p:nvPr/>
        </p:nvSpPr>
        <p:spPr>
          <a:xfrm>
            <a:off x="640080" y="3749040"/>
            <a:ext cx="54865" cy="1143001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79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14400" y="3840479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Text 20"/>
          <p:cNvSpPr txBox="1"/>
          <p:nvPr/>
        </p:nvSpPr>
        <p:spPr>
          <a:xfrm>
            <a:off x="1371600" y="3892549"/>
            <a:ext cx="18288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RAG Fusion</a:t>
            </a:r>
          </a:p>
        </p:txBody>
      </p:sp>
      <p:sp>
        <p:nvSpPr>
          <p:cNvPr id="181" name="Text 21"/>
          <p:cNvSpPr txBox="1"/>
          <p:nvPr/>
        </p:nvSpPr>
        <p:spPr>
          <a:xfrm>
            <a:off x="914400" y="4331774"/>
            <a:ext cx="3474721" cy="343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1F2937"/>
                </a:solidFill>
              </a:defRPr>
            </a:lvl1pPr>
          </a:lstStyle>
          <a:p>
            <a:pPr/>
            <a:r>
              <a:t>Orijinal sorudan 4 varyant üretilir. Her biri ayrı retrieval → Reciprocal Rank Fusion (RRF) ile birleştirilir.</a:t>
            </a:r>
          </a:p>
        </p:txBody>
      </p:sp>
      <p:sp>
        <p:nvSpPr>
          <p:cNvPr id="182" name="Text 22"/>
          <p:cNvSpPr txBox="1"/>
          <p:nvPr/>
        </p:nvSpPr>
        <p:spPr>
          <a:xfrm>
            <a:off x="4663440" y="3891279"/>
            <a:ext cx="914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6B7280"/>
                </a:solidFill>
              </a:defRPr>
            </a:lvl1pPr>
          </a:lstStyle>
          <a:p>
            <a:pPr/>
            <a:r>
              <a:t>Ne Zaman?</a:t>
            </a:r>
          </a:p>
        </p:txBody>
      </p:sp>
      <p:sp>
        <p:nvSpPr>
          <p:cNvPr id="183" name="Text 23"/>
          <p:cNvSpPr txBox="1"/>
          <p:nvPr/>
        </p:nvSpPr>
        <p:spPr>
          <a:xfrm>
            <a:off x="4663440" y="4152320"/>
            <a:ext cx="1828801" cy="33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F2937"/>
                </a:solidFill>
              </a:defRPr>
            </a:lvl1pPr>
          </a:lstStyle>
          <a:p>
            <a:pPr/>
            <a:r>
              <a:t>Kapsamlılık kritik, multi-domain sorular.</a:t>
            </a:r>
          </a:p>
        </p:txBody>
      </p:sp>
      <p:sp>
        <p:nvSpPr>
          <p:cNvPr id="184" name="Text 24"/>
          <p:cNvSpPr txBox="1"/>
          <p:nvPr/>
        </p:nvSpPr>
        <p:spPr>
          <a:xfrm>
            <a:off x="6675119" y="3891279"/>
            <a:ext cx="914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6B7280"/>
                </a:solidFill>
              </a:defRPr>
            </a:lvl1pPr>
          </a:lstStyle>
          <a:p>
            <a:pPr/>
            <a:r>
              <a:t>Trade-off</a:t>
            </a:r>
          </a:p>
        </p:txBody>
      </p:sp>
      <p:sp>
        <p:nvSpPr>
          <p:cNvPr id="185" name="Text 25"/>
          <p:cNvSpPr txBox="1"/>
          <p:nvPr/>
        </p:nvSpPr>
        <p:spPr>
          <a:xfrm>
            <a:off x="6675119" y="4152320"/>
            <a:ext cx="1645921" cy="33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F2937"/>
                </a:solidFill>
              </a:defRPr>
            </a:lvl1pPr>
          </a:lstStyle>
          <a:p>
            <a:pPr/>
            <a:r>
              <a:t>En yüksek recall ama en yavaş (N+1 retrieval çağrısı).</a:t>
            </a:r>
          </a:p>
        </p:txBody>
      </p:sp>
      <p:sp>
        <p:nvSpPr>
          <p:cNvPr id="186" name="Text 26"/>
          <p:cNvSpPr txBox="1"/>
          <p:nvPr/>
        </p:nvSpPr>
        <p:spPr>
          <a:xfrm>
            <a:off x="640079" y="4976101"/>
            <a:ext cx="786384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200">
                <a:solidFill>
                  <a:srgbClr val="E94560"/>
                </a:solidFill>
              </a:defRPr>
            </a:lvl1pPr>
          </a:lstStyle>
          <a:p>
            <a:pPr/>
            <a:r>
              <a:t>Tek bir 'en iyi RAG' yok — soru tipine ve hız/kalite dengesine göre doğru strateji seçilmeli.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Text 1"/>
          <p:cNvSpPr txBox="1"/>
          <p:nvPr/>
        </p:nvSpPr>
        <p:spPr>
          <a:xfrm>
            <a:off x="640079" y="414019"/>
            <a:ext cx="786384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Sonuçlar: 3 Model × 3 Yöntem = 27 Test</a:t>
            </a:r>
          </a:p>
        </p:txBody>
      </p:sp>
      <p:sp>
        <p:nvSpPr>
          <p:cNvPr id="190" name="Shape 2"/>
          <p:cNvSpPr/>
          <p:nvPr/>
        </p:nvSpPr>
        <p:spPr>
          <a:xfrm>
            <a:off x="5303520" y="1051560"/>
            <a:ext cx="3566160" cy="25603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" name="Text 3"/>
          <p:cNvSpPr txBox="1"/>
          <p:nvPr/>
        </p:nvSpPr>
        <p:spPr>
          <a:xfrm>
            <a:off x="5532120" y="1195069"/>
            <a:ext cx="32004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Temel Bulgular</a:t>
            </a:r>
          </a:p>
        </p:txBody>
      </p:sp>
      <p:pic>
        <p:nvPicPr>
          <p:cNvPr id="19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32120" y="1600200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Text 4"/>
          <p:cNvSpPr txBox="1"/>
          <p:nvPr/>
        </p:nvSpPr>
        <p:spPr>
          <a:xfrm>
            <a:off x="5852159" y="1622859"/>
            <a:ext cx="2880361" cy="329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1F2937"/>
                </a:solidFill>
              </a:defRPr>
            </a:lvl1pPr>
          </a:lstStyle>
          <a:p>
            <a:pPr/>
            <a:r>
              <a:t>Llama3-Lawyer tüm yöntemlerde en hızlı (domain-specific avantajı)</a:t>
            </a:r>
          </a:p>
        </p:txBody>
      </p:sp>
      <p:pic>
        <p:nvPicPr>
          <p:cNvPr id="194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32120" y="2057400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195" name="Text 5"/>
          <p:cNvSpPr txBox="1"/>
          <p:nvPr/>
        </p:nvSpPr>
        <p:spPr>
          <a:xfrm>
            <a:off x="5852159" y="2176316"/>
            <a:ext cx="28803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1F2937"/>
                </a:solidFill>
              </a:defRPr>
            </a:lvl1pPr>
          </a:lstStyle>
          <a:p>
            <a:pPr/>
            <a:r>
              <a:t>Basic RAG basit sorularda en verimli (14s vs 20s Fusion)</a:t>
            </a:r>
          </a:p>
        </p:txBody>
      </p:sp>
      <p:pic>
        <p:nvPicPr>
          <p:cNvPr id="196" name="Image 2" descr="Imag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32120" y="2514600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Text 6"/>
          <p:cNvSpPr txBox="1"/>
          <p:nvPr/>
        </p:nvSpPr>
        <p:spPr>
          <a:xfrm>
            <a:off x="5852159" y="2537259"/>
            <a:ext cx="2880361" cy="329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1F2937"/>
                </a:solidFill>
              </a:defRPr>
            </a:lvl1pPr>
          </a:lstStyle>
          <a:p>
            <a:pPr/>
            <a:r>
              <a:t>Adaptive RAG'da complexity routing doğru çalışıyor (SIMPLE → 5s)</a:t>
            </a:r>
          </a:p>
        </p:txBody>
      </p:sp>
      <p:pic>
        <p:nvPicPr>
          <p:cNvPr id="198" name="Image 3" descr="Imag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32120" y="2971800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Text 7"/>
          <p:cNvSpPr txBox="1"/>
          <p:nvPr/>
        </p:nvSpPr>
        <p:spPr>
          <a:xfrm>
            <a:off x="5852159" y="2994459"/>
            <a:ext cx="2880361" cy="329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1F2937"/>
                </a:solidFill>
              </a:defRPr>
            </a:lvl1pPr>
          </a:lstStyle>
          <a:p>
            <a:pPr/>
            <a:r>
              <a:t>RAG Fusion en kapsamlı retrieval — 25 doküman, 23 unique sonuç</a:t>
            </a:r>
          </a:p>
        </p:txBody>
      </p:sp>
      <p:sp>
        <p:nvSpPr>
          <p:cNvPr id="200" name="Shape 8"/>
          <p:cNvSpPr/>
          <p:nvPr/>
        </p:nvSpPr>
        <p:spPr>
          <a:xfrm>
            <a:off x="640079" y="3764226"/>
            <a:ext cx="7863842" cy="83830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" name="Text 9"/>
          <p:cNvSpPr txBox="1"/>
          <p:nvPr/>
        </p:nvSpPr>
        <p:spPr>
          <a:xfrm>
            <a:off x="868679" y="3795295"/>
            <a:ext cx="7406642" cy="776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Retrieval Kalitesi:  </a:t>
            </a:r>
          </a:p>
          <a:p>
            <a:pPr>
              <a:lnSpc>
                <a:spcPct val="130000"/>
              </a:lnSpc>
              <a:defRPr b="1" sz="1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b="0" sz="1100">
                <a:solidFill>
                  <a:srgbClr val="6B7280"/>
                </a:solidFill>
                <a:latin typeface="+mn-lt"/>
                <a:ea typeface="+mn-ea"/>
                <a:cs typeface="+mn-cs"/>
                <a:sym typeface="Calibri"/>
              </a:rPr>
              <a:t>Metadata filtering doğru çalışıyor,  human_rights sorgusu → ecthr, contracts → ledgar. </a:t>
            </a:r>
            <a:endParaRPr b="0" sz="1100">
              <a:solidFill>
                <a:srgbClr val="6B7280"/>
              </a:solidFill>
              <a:latin typeface="+mn-lt"/>
              <a:ea typeface="+mn-ea"/>
              <a:cs typeface="+mn-cs"/>
              <a:sym typeface="Calibri"/>
            </a:endParaRPr>
          </a:p>
          <a:p>
            <a:pPr>
              <a:lnSpc>
                <a:spcPct val="130000"/>
              </a:lnSpc>
              <a:defRPr b="1" sz="1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b="0" sz="1100">
                <a:solidFill>
                  <a:srgbClr val="6B7280"/>
                </a:solidFill>
                <a:latin typeface="+mn-lt"/>
                <a:ea typeface="+mn-ea"/>
                <a:cs typeface="+mn-cs"/>
                <a:sym typeface="Calibri"/>
              </a:rPr>
              <a:t>Ortalama cosine similarity: 0.52-0.66 (iyi aralık). </a:t>
            </a:r>
            <a:endParaRPr b="0" sz="1100">
              <a:solidFill>
                <a:srgbClr val="6B7280"/>
              </a:solidFill>
              <a:latin typeface="+mn-lt"/>
              <a:ea typeface="+mn-ea"/>
              <a:cs typeface="+mn-cs"/>
              <a:sym typeface="Calibri"/>
            </a:endParaRPr>
          </a:p>
          <a:p>
            <a:pPr>
              <a:lnSpc>
                <a:spcPct val="130000"/>
              </a:lnSpc>
              <a:defRPr b="1" sz="12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b="0" sz="1100">
                <a:solidFill>
                  <a:srgbClr val="6B7280"/>
                </a:solidFill>
                <a:latin typeface="+mn-lt"/>
                <a:ea typeface="+mn-ea"/>
                <a:cs typeface="+mn-cs"/>
                <a:sym typeface="Calibri"/>
              </a:rPr>
              <a:t>RAG Fusion'da multi-query ile single-query'nin kaçırdığı dokümanlar yakalanıyor.</a:t>
            </a:r>
          </a:p>
        </p:txBody>
      </p:sp>
      <p:sp>
        <p:nvSpPr>
          <p:cNvPr id="202" name="Text 10"/>
          <p:cNvSpPr txBox="1"/>
          <p:nvPr/>
        </p:nvSpPr>
        <p:spPr>
          <a:xfrm>
            <a:off x="640079" y="4790747"/>
            <a:ext cx="786384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200">
                <a:solidFill>
                  <a:srgbClr val="E94560"/>
                </a:solidFill>
              </a:defRPr>
            </a:lvl1pPr>
          </a:lstStyle>
          <a:p>
            <a:pPr/>
            <a:r>
              <a:t>Domain-specific model + doğru RAG stratejisi seçimi yanıt süresini %60'a kadar düşürebiliyor.</a:t>
            </a:r>
          </a:p>
        </p:txBody>
      </p:sp>
      <p:pic>
        <p:nvPicPr>
          <p:cNvPr id="203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39696" y="1008633"/>
            <a:ext cx="4660315" cy="264363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Text 1"/>
          <p:cNvSpPr txBox="1"/>
          <p:nvPr/>
        </p:nvSpPr>
        <p:spPr>
          <a:xfrm>
            <a:off x="640079" y="414019"/>
            <a:ext cx="786384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Demo: Streamlit Uygulaması</a:t>
            </a:r>
          </a:p>
        </p:txBody>
      </p:sp>
      <p:sp>
        <p:nvSpPr>
          <p:cNvPr id="207" name="Shape 2"/>
          <p:cNvSpPr/>
          <p:nvPr/>
        </p:nvSpPr>
        <p:spPr>
          <a:xfrm>
            <a:off x="640079" y="1097280"/>
            <a:ext cx="3749042" cy="13716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20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2960" y="1280160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Text 3"/>
          <p:cNvSpPr txBox="1"/>
          <p:nvPr/>
        </p:nvSpPr>
        <p:spPr>
          <a:xfrm>
            <a:off x="1325880" y="1338580"/>
            <a:ext cx="27432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Soru Sorgulama</a:t>
            </a:r>
          </a:p>
        </p:txBody>
      </p:sp>
      <p:sp>
        <p:nvSpPr>
          <p:cNvPr id="210" name="Text 4"/>
          <p:cNvSpPr txBox="1"/>
          <p:nvPr/>
        </p:nvSpPr>
        <p:spPr>
          <a:xfrm>
            <a:off x="822960" y="1861359"/>
            <a:ext cx="3383280" cy="346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5000"/>
              </a:lnSpc>
              <a:defRPr sz="1100">
                <a:solidFill>
                  <a:srgbClr val="6B7280"/>
                </a:solidFill>
              </a:defRPr>
            </a:lvl1pPr>
          </a:lstStyle>
          <a:p>
            <a:pPr/>
            <a:r>
              <a:t>Doğal dilde hukuki soru girin, RAG sistemi ilgili belgeleri bulur ve LLM ile cevap üretir.</a:t>
            </a:r>
          </a:p>
        </p:txBody>
      </p:sp>
      <p:sp>
        <p:nvSpPr>
          <p:cNvPr id="211" name="Shape 5"/>
          <p:cNvSpPr/>
          <p:nvPr/>
        </p:nvSpPr>
        <p:spPr>
          <a:xfrm>
            <a:off x="4754879" y="1097280"/>
            <a:ext cx="3749042" cy="13716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212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37759" y="1280160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Text 6"/>
          <p:cNvSpPr txBox="1"/>
          <p:nvPr/>
        </p:nvSpPr>
        <p:spPr>
          <a:xfrm>
            <a:off x="5440679" y="1338580"/>
            <a:ext cx="27432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RAG Yöntemi Seçimi</a:t>
            </a:r>
          </a:p>
        </p:txBody>
      </p:sp>
      <p:sp>
        <p:nvSpPr>
          <p:cNvPr id="214" name="Text 7"/>
          <p:cNvSpPr txBox="1"/>
          <p:nvPr/>
        </p:nvSpPr>
        <p:spPr>
          <a:xfrm>
            <a:off x="4937759" y="1861359"/>
            <a:ext cx="3383281" cy="346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5000"/>
              </a:lnSpc>
              <a:defRPr sz="1100">
                <a:solidFill>
                  <a:srgbClr val="6B7280"/>
                </a:solidFill>
              </a:defRPr>
            </a:lvl1pPr>
          </a:lstStyle>
          <a:p>
            <a:pPr/>
            <a:r>
              <a:t>Basic / Adaptive / Fusion arasında geçiş yapın, her yöntemin metriklerini karşılaştırın.</a:t>
            </a:r>
          </a:p>
        </p:txBody>
      </p:sp>
      <p:sp>
        <p:nvSpPr>
          <p:cNvPr id="215" name="Shape 8"/>
          <p:cNvSpPr/>
          <p:nvPr/>
        </p:nvSpPr>
        <p:spPr>
          <a:xfrm>
            <a:off x="640079" y="2743200"/>
            <a:ext cx="3749042" cy="1371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216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22960" y="292607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217" name="Text 9"/>
          <p:cNvSpPr txBox="1"/>
          <p:nvPr/>
        </p:nvSpPr>
        <p:spPr>
          <a:xfrm>
            <a:off x="1325880" y="2984500"/>
            <a:ext cx="27432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Domain Filtreleme</a:t>
            </a:r>
          </a:p>
        </p:txBody>
      </p:sp>
      <p:sp>
        <p:nvSpPr>
          <p:cNvPr id="218" name="Text 10"/>
          <p:cNvSpPr txBox="1"/>
          <p:nvPr/>
        </p:nvSpPr>
        <p:spPr>
          <a:xfrm>
            <a:off x="822960" y="3507279"/>
            <a:ext cx="3383280" cy="346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5000"/>
              </a:lnSpc>
              <a:defRPr sz="1100">
                <a:solidFill>
                  <a:srgbClr val="6B7280"/>
                </a:solidFill>
              </a:defRPr>
            </a:lvl1pPr>
          </a:lstStyle>
          <a:p>
            <a:pPr/>
            <a:r>
              <a:t>6 hukuki alandan istediğinizi seçerek arama kapsamını daraltın.</a:t>
            </a:r>
          </a:p>
        </p:txBody>
      </p:sp>
      <p:sp>
        <p:nvSpPr>
          <p:cNvPr id="219" name="Shape 11"/>
          <p:cNvSpPr/>
          <p:nvPr/>
        </p:nvSpPr>
        <p:spPr>
          <a:xfrm>
            <a:off x="4754879" y="2743200"/>
            <a:ext cx="3749042" cy="1371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220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937759" y="292607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Text 12"/>
          <p:cNvSpPr txBox="1"/>
          <p:nvPr/>
        </p:nvSpPr>
        <p:spPr>
          <a:xfrm>
            <a:off x="5440679" y="2984500"/>
            <a:ext cx="27432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Kaynak Gösterimi</a:t>
            </a:r>
          </a:p>
        </p:txBody>
      </p:sp>
      <p:sp>
        <p:nvSpPr>
          <p:cNvPr id="222" name="Text 13"/>
          <p:cNvSpPr txBox="1"/>
          <p:nvPr/>
        </p:nvSpPr>
        <p:spPr>
          <a:xfrm>
            <a:off x="4937759" y="3507279"/>
            <a:ext cx="3383281" cy="346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5000"/>
              </a:lnSpc>
              <a:defRPr sz="1100">
                <a:solidFill>
                  <a:srgbClr val="6B7280"/>
                </a:solidFill>
              </a:defRPr>
            </a:lvl1pPr>
          </a:lstStyle>
          <a:p>
            <a:pPr/>
            <a:r>
              <a:t>Her cevapla birlikte kaynaklar, similarity skorları ve doküman preview'ları gösterilir.</a:t>
            </a:r>
          </a:p>
        </p:txBody>
      </p:sp>
      <p:sp>
        <p:nvSpPr>
          <p:cNvPr id="223" name="Shape 14"/>
          <p:cNvSpPr/>
          <p:nvPr/>
        </p:nvSpPr>
        <p:spPr>
          <a:xfrm>
            <a:off x="640079" y="4297679"/>
            <a:ext cx="7863842" cy="640081"/>
          </a:xfrm>
          <a:prstGeom prst="rect">
            <a:avLst/>
          </a:prstGeom>
          <a:solidFill>
            <a:srgbClr val="1A1A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Text 15"/>
          <p:cNvSpPr txBox="1"/>
          <p:nvPr/>
        </p:nvSpPr>
        <p:spPr>
          <a:xfrm>
            <a:off x="640079" y="4539287"/>
            <a:ext cx="786384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CADCFC"/>
                </a:solidFill>
              </a:defRPr>
            </a:lvl1pPr>
          </a:lstStyle>
          <a:p>
            <a:pPr/>
            <a:r>
              <a:t>Python  •  Streamlit  •  ChromaDB  •  Sentence-Transformers  •  LM Studio  •  LangChain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0"/>
          <p:cNvSpPr/>
          <p:nvPr/>
        </p:nvSpPr>
        <p:spPr>
          <a:xfrm>
            <a:off x="-1" y="0"/>
            <a:ext cx="73154" cy="5143500"/>
          </a:xfrm>
          <a:prstGeom prst="rect">
            <a:avLst/>
          </a:prstGeom>
          <a:solidFill>
            <a:srgbClr val="E945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7" name="Text 1"/>
          <p:cNvSpPr txBox="1"/>
          <p:nvPr/>
        </p:nvSpPr>
        <p:spPr>
          <a:xfrm>
            <a:off x="640079" y="349249"/>
            <a:ext cx="7863842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İleri Vizyon: Sonraki Adımlar</a:t>
            </a:r>
          </a:p>
        </p:txBody>
      </p:sp>
      <p:sp>
        <p:nvSpPr>
          <p:cNvPr id="228" name="Shape 2"/>
          <p:cNvSpPr/>
          <p:nvPr/>
        </p:nvSpPr>
        <p:spPr>
          <a:xfrm>
            <a:off x="640079" y="1005839"/>
            <a:ext cx="7863842" cy="64008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22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" y="1143000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230" name="Text 3"/>
          <p:cNvSpPr txBox="1"/>
          <p:nvPr/>
        </p:nvSpPr>
        <p:spPr>
          <a:xfrm>
            <a:off x="1417319" y="1120902"/>
            <a:ext cx="2743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Legal-Domain Embeddings</a:t>
            </a:r>
          </a:p>
        </p:txBody>
      </p:sp>
      <p:sp>
        <p:nvSpPr>
          <p:cNvPr id="231" name="Text 4"/>
          <p:cNvSpPr txBox="1"/>
          <p:nvPr/>
        </p:nvSpPr>
        <p:spPr>
          <a:xfrm>
            <a:off x="1417319" y="1399076"/>
            <a:ext cx="5029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/>
            <a:r>
              <a:t>legal-bert-base-uncased ile retrieval precision +15-20% artış beklentisi</a:t>
            </a:r>
          </a:p>
        </p:txBody>
      </p:sp>
      <p:sp>
        <p:nvSpPr>
          <p:cNvPr id="232" name="Shape 7"/>
          <p:cNvSpPr/>
          <p:nvPr/>
        </p:nvSpPr>
        <p:spPr>
          <a:xfrm>
            <a:off x="640079" y="1783079"/>
            <a:ext cx="7863842" cy="64008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233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4400" y="1920239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Text 8"/>
          <p:cNvSpPr txBox="1"/>
          <p:nvPr/>
        </p:nvSpPr>
        <p:spPr>
          <a:xfrm>
            <a:off x="1417319" y="1802892"/>
            <a:ext cx="27432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Hybrid Search (BM25 + Semantic)</a:t>
            </a:r>
          </a:p>
        </p:txBody>
      </p:sp>
      <p:sp>
        <p:nvSpPr>
          <p:cNvPr id="235" name="Text 9"/>
          <p:cNvSpPr txBox="1"/>
          <p:nvPr/>
        </p:nvSpPr>
        <p:spPr>
          <a:xfrm>
            <a:off x="1417319" y="2176316"/>
            <a:ext cx="5029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/>
            <a:r>
              <a:t>Exact keyword match + semantik anlam birleşimi ile daha robust arama</a:t>
            </a:r>
          </a:p>
        </p:txBody>
      </p:sp>
      <p:sp>
        <p:nvSpPr>
          <p:cNvPr id="236" name="Shape 12"/>
          <p:cNvSpPr/>
          <p:nvPr/>
        </p:nvSpPr>
        <p:spPr>
          <a:xfrm>
            <a:off x="640079" y="2560320"/>
            <a:ext cx="7863842" cy="64008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237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14400" y="2697479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238" name="Text 13"/>
          <p:cNvSpPr txBox="1"/>
          <p:nvPr/>
        </p:nvSpPr>
        <p:spPr>
          <a:xfrm>
            <a:off x="1417319" y="2675382"/>
            <a:ext cx="2743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Cross-Encoder Re-ranking</a:t>
            </a:r>
          </a:p>
        </p:txBody>
      </p:sp>
      <p:sp>
        <p:nvSpPr>
          <p:cNvPr id="239" name="Text 14"/>
          <p:cNvSpPr txBox="1"/>
          <p:nvPr/>
        </p:nvSpPr>
        <p:spPr>
          <a:xfrm>
            <a:off x="1417319" y="2953556"/>
            <a:ext cx="5029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/>
            <a:r>
              <a:t>Retrieval sonuçlarının kalite sıralaması — precision@K iyileştirmesi</a:t>
            </a:r>
          </a:p>
        </p:txBody>
      </p:sp>
      <p:sp>
        <p:nvSpPr>
          <p:cNvPr id="240" name="Shape 17"/>
          <p:cNvSpPr/>
          <p:nvPr/>
        </p:nvSpPr>
        <p:spPr>
          <a:xfrm>
            <a:off x="640079" y="3337559"/>
            <a:ext cx="7863842" cy="64008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241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14400" y="3474720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242" name="Text 18"/>
          <p:cNvSpPr txBox="1"/>
          <p:nvPr/>
        </p:nvSpPr>
        <p:spPr>
          <a:xfrm>
            <a:off x="1417319" y="3452621"/>
            <a:ext cx="2743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RAGAS Evaluation Framework</a:t>
            </a:r>
          </a:p>
        </p:txBody>
      </p:sp>
      <p:sp>
        <p:nvSpPr>
          <p:cNvPr id="243" name="Text 19"/>
          <p:cNvSpPr txBox="1"/>
          <p:nvPr/>
        </p:nvSpPr>
        <p:spPr>
          <a:xfrm>
            <a:off x="1417319" y="3730796"/>
            <a:ext cx="5029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/>
            <a:r>
              <a:t>Faithfulness, relevance, hallucination otomatik ölçümü</a:t>
            </a:r>
          </a:p>
        </p:txBody>
      </p:sp>
      <p:sp>
        <p:nvSpPr>
          <p:cNvPr id="244" name="Shape 22"/>
          <p:cNvSpPr/>
          <p:nvPr/>
        </p:nvSpPr>
        <p:spPr>
          <a:xfrm>
            <a:off x="640079" y="4114800"/>
            <a:ext cx="7863842" cy="64008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245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14400" y="4251959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246" name="Text 23"/>
          <p:cNvSpPr txBox="1"/>
          <p:nvPr/>
        </p:nvSpPr>
        <p:spPr>
          <a:xfrm>
            <a:off x="1417319" y="4229861"/>
            <a:ext cx="2743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Türkçe Hukuki Belge Desteği</a:t>
            </a:r>
          </a:p>
        </p:txBody>
      </p:sp>
      <p:sp>
        <p:nvSpPr>
          <p:cNvPr id="247" name="Text 24"/>
          <p:cNvSpPr txBox="1"/>
          <p:nvPr/>
        </p:nvSpPr>
        <p:spPr>
          <a:xfrm>
            <a:off x="1417319" y="4508036"/>
            <a:ext cx="5029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/>
            <a:r>
              <a:t>Multi-lingual embedding + Türk mevzuatı corpus genişlemesi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